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10058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FAFAFA"/>
                </a:solidFill>
                <a:latin typeface="Arial"/>
              </a:defRPr>
            </a:pPr>
            <a:r>
              <a:rPr dirty="0" err="1"/>
              <a:t>SmartAntenna</a:t>
            </a:r>
            <a:r>
              <a:rPr dirty="0"/>
              <a:t> Control</a:t>
            </a:r>
          </a:p>
          <a:p>
            <a:pPr>
              <a:spcAft>
                <a:spcPts val="3000"/>
              </a:spcAft>
              <a:defRPr sz="2200">
                <a:solidFill>
                  <a:srgbClr val="94A3B8"/>
                </a:solidFill>
                <a:latin typeface="Arial"/>
              </a:defRPr>
            </a:pPr>
            <a:r>
              <a:rPr dirty="0" err="1"/>
              <a:t>Sustav</a:t>
            </a:r>
            <a:r>
              <a:rPr dirty="0"/>
              <a:t> za </a:t>
            </a:r>
            <a:r>
              <a:rPr dirty="0" err="1"/>
              <a:t>bežično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noćno</a:t>
            </a:r>
            <a:r>
              <a:rPr dirty="0"/>
              <a:t> </a:t>
            </a:r>
            <a:r>
              <a:rPr dirty="0" err="1"/>
              <a:t>upravljanje</a:t>
            </a:r>
            <a:r>
              <a:rPr dirty="0"/>
              <a:t> </a:t>
            </a:r>
            <a:r>
              <a:rPr dirty="0" err="1"/>
              <a:t>antenskim</a:t>
            </a:r>
            <a:r>
              <a:rPr dirty="0"/>
              <a:t> </a:t>
            </a:r>
            <a:r>
              <a:rPr dirty="0" err="1"/>
              <a:t>sustavima</a:t>
            </a:r>
            <a:r>
              <a:rPr dirty="0"/>
              <a:t> </a:t>
            </a:r>
            <a:r>
              <a:rPr dirty="0" err="1"/>
              <a:t>radioamatera</a:t>
            </a:r>
            <a:endParaRPr dirty="0"/>
          </a:p>
          <a:p>
            <a:pPr>
              <a:spcAft>
                <a:spcPts val="2000"/>
              </a:spcAft>
              <a:defRPr sz="1600">
                <a:solidFill>
                  <a:srgbClr val="3B82F6"/>
                </a:solidFill>
                <a:latin typeface="Consolas"/>
              </a:defRPr>
            </a:pPr>
            <a:r>
              <a:rPr dirty="0"/>
              <a:t>ESP8266 | </a:t>
            </a:r>
            <a:r>
              <a:rPr dirty="0" err="1"/>
              <a:t>LittleFS</a:t>
            </a:r>
            <a:r>
              <a:rPr dirty="0"/>
              <a:t> | WebSocket | JSON API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rPr dirty="0"/>
              <a:t>Autor: </a:t>
            </a:r>
            <a:r>
              <a:rPr lang="hr-HR" dirty="0"/>
              <a:t>Marin Šupljika 4.c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Izazov vs. Pametno Rješenje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Usmjerene antene (Yagi) zahtijevaju precizno pozicioniranje. Ručni zahvat na terenu je spor, neprecizan i iznimno otežan u noćnim ili nepovoljnim vremenskim uvjetima.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5120640" cy="3657600"/>
          </a:xfrm>
          <a:prstGeom prst="roundRect">
            <a:avLst/>
          </a:prstGeom>
          <a:solidFill>
            <a:srgbClr val="1B2336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0"/>
              </a:spcAft>
              <a:defRPr sz="2000" b="1">
                <a:solidFill>
                  <a:srgbClr val="EF4444"/>
                </a:solidFill>
              </a:defRPr>
            </a:pPr>
            <a:r>
              <a:t>[ X ] Ručni i klasični pristup</a:t>
            </a:r>
          </a:p>
          <a:p>
            <a:pPr>
              <a:spcAft>
                <a:spcPts val="1200"/>
              </a:spcAft>
              <a:defRPr sz="1500">
                <a:solidFill>
                  <a:srgbClr val="FAFAFA"/>
                </a:solidFill>
              </a:defRPr>
            </a:pPr>
            <a:r>
              <a:t>• Fizički izlazak na poziciju u nepovoljnim vanjskim uvjetima.</a:t>
            </a:r>
          </a:p>
          <a:p>
            <a:pPr>
              <a:spcAft>
                <a:spcPts val="1200"/>
              </a:spcAft>
              <a:defRPr sz="1500">
                <a:solidFill>
                  <a:srgbClr val="FAFAFA"/>
                </a:solidFill>
              </a:defRPr>
            </a:pPr>
            <a:r>
              <a:t>• Gruba procjena smjera i kuta bez povratne informacije u realnom vremenu.</a:t>
            </a:r>
          </a:p>
          <a:p>
            <a:pPr>
              <a:spcAft>
                <a:spcPts val="1200"/>
              </a:spcAft>
              <a:defRPr sz="1500">
                <a:solidFill>
                  <a:srgbClr val="FAFAFA"/>
                </a:solidFill>
              </a:defRPr>
            </a:pPr>
            <a:r>
              <a:t>• Ručno prebacivanje koaksijalnih sklopki za promjenu aktivne antene.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560320"/>
            <a:ext cx="5120640" cy="3657600"/>
          </a:xfrm>
          <a:prstGeom prst="roundRect">
            <a:avLst/>
          </a:prstGeom>
          <a:solidFill>
            <a:srgbClr val="1B23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0"/>
              </a:spcAft>
              <a:defRPr sz="2000" b="1">
                <a:solidFill>
                  <a:srgbClr val="10B981"/>
                </a:solidFill>
              </a:defRPr>
            </a:pPr>
            <a:r>
              <a:t>[ V ] SmartAntenna rješenje</a:t>
            </a:r>
          </a:p>
          <a:p>
            <a:pPr>
              <a:spcAft>
                <a:spcPts val="1200"/>
              </a:spcAft>
              <a:defRPr sz="1500">
                <a:solidFill>
                  <a:srgbClr val="FAFAFA"/>
                </a:solidFill>
              </a:defRPr>
            </a:pPr>
            <a:r>
              <a:t>• Potpuno daljinsko upravljanje iz radio-shacka preko lokalne WiFi mreže.</a:t>
            </a:r>
          </a:p>
          <a:p>
            <a:pPr>
              <a:spcAft>
                <a:spcPts val="1200"/>
              </a:spcAft>
              <a:defRPr sz="1500">
                <a:solidFill>
                  <a:srgbClr val="FAFAFA"/>
                </a:solidFill>
              </a:defRPr>
            </a:pPr>
            <a:r>
              <a:t>• Precizno pozicioniranje, praćenje kuta i softverska kalibracija u hodu.</a:t>
            </a:r>
          </a:p>
          <a:p>
            <a:pPr>
              <a:spcAft>
                <a:spcPts val="1200"/>
              </a:spcAft>
              <a:defRPr sz="1500">
                <a:solidFill>
                  <a:srgbClr val="FAFAFA"/>
                </a:solidFill>
              </a:defRPr>
            </a:pPr>
            <a:r>
              <a:t>• Relejno prebacivanje antena (Yagi / GP) jednim klikom na web dashboardu.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Tehnička arhitektura sustava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4130" y="2880360"/>
            <a:ext cx="2286000" cy="1097280"/>
          </a:xfrm>
          <a:prstGeom prst="rect">
            <a:avLst/>
          </a:prstGeom>
          <a:solidFill>
            <a:srgbClr val="1B233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500" b="1">
                <a:solidFill>
                  <a:srgbClr val="FAFAFA"/>
                </a:solidFill>
              </a:defRPr>
            </a:pPr>
            <a:r>
              <a:t>Korisnički uređaj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Web preglednik</a:t>
            </a:r>
            <a:br/>
            <a:r>
              <a:t>(PC / Mobitel)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36722" y="2926080"/>
            <a:ext cx="2743200" cy="1097280"/>
          </a:xfrm>
          <a:prstGeom prst="rect">
            <a:avLst/>
          </a:prstGeom>
          <a:solidFill>
            <a:srgbClr val="1B233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500" b="1">
                <a:solidFill>
                  <a:srgbClr val="FAFAFA"/>
                </a:solidFill>
              </a:defRPr>
            </a:pPr>
            <a:r>
              <a:t>ESP8266 NodeMCU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Središnji Web Server</a:t>
            </a:r>
            <a:br/>
            <a:r>
              <a:t>&amp; WebSocket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645920"/>
            <a:ext cx="3474720" cy="914400"/>
          </a:xfrm>
          <a:prstGeom prst="rect">
            <a:avLst/>
          </a:prstGeom>
          <a:solidFill>
            <a:srgbClr val="1B23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500" b="1">
                <a:solidFill>
                  <a:srgbClr val="FAFAFA"/>
                </a:solidFill>
              </a:defRPr>
            </a:pPr>
            <a:r>
              <a:t>Relejni modul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Prebacivanje (HIGH=Yagi / LOW=GP)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3017520"/>
            <a:ext cx="3474720" cy="914400"/>
          </a:xfrm>
          <a:prstGeom prst="rect">
            <a:avLst/>
          </a:prstGeom>
          <a:solidFill>
            <a:srgbClr val="1B23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500" b="1">
                <a:solidFill>
                  <a:srgbClr val="FAFAFA"/>
                </a:solidFill>
              </a:defRPr>
            </a:pPr>
            <a:r>
              <a:t>Servo / Rotator podsustav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Precizno zakretanje (/set_steps)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4389120"/>
            <a:ext cx="3474720" cy="914400"/>
          </a:xfrm>
          <a:prstGeom prst="rect">
            <a:avLst/>
          </a:prstGeom>
          <a:solidFill>
            <a:srgbClr val="1B23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500" b="1">
                <a:solidFill>
                  <a:srgbClr val="FAFAFA"/>
                </a:solidFill>
              </a:defRPr>
            </a:pPr>
            <a:r>
              <a:t>DHT Senzorska stanica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Telemetrija (Temperatura i vlaga)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2004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C4899"/>
                </a:solidFill>
              </a:defRPr>
            </a:pPr>
            <a:r>
              <a:rPr dirty="0" err="1"/>
              <a:t>WiFi</a:t>
            </a:r>
            <a:r>
              <a:rPr dirty="0"/>
              <a:t> (HTTP/WS) ──►</a:t>
            </a:r>
          </a:p>
        </p:txBody>
      </p:sp>
      <p:sp>
        <p:nvSpPr>
          <p:cNvPr id="9" name="TextBox 8"/>
          <p:cNvSpPr txBox="1"/>
          <p:nvPr/>
        </p:nvSpPr>
        <p:spPr>
          <a:xfrm rot="20010885">
            <a:off x="7003405" y="247483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4899"/>
                </a:solidFill>
              </a:defRPr>
            </a:pPr>
            <a:r>
              <a:rPr dirty="0"/>
              <a:t>──►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291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4899"/>
                </a:solidFill>
              </a:defRPr>
            </a:pPr>
            <a:r>
              <a:t>──►</a:t>
            </a:r>
          </a:p>
        </p:txBody>
      </p:sp>
      <p:sp>
        <p:nvSpPr>
          <p:cNvPr id="11" name="TextBox 10"/>
          <p:cNvSpPr txBox="1"/>
          <p:nvPr/>
        </p:nvSpPr>
        <p:spPr>
          <a:xfrm rot="1692387">
            <a:off x="6949439" y="420017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4899"/>
                </a:solidFill>
              </a:defRPr>
            </a:pPr>
            <a:r>
              <a:rPr dirty="0"/>
              <a:t>──►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130" y="5669280"/>
            <a:ext cx="967643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• </a:t>
            </a:r>
            <a:r>
              <a:rPr sz="1600" dirty="0" err="1">
                <a:solidFill>
                  <a:schemeClr val="bg1"/>
                </a:solidFill>
              </a:rPr>
              <a:t>Potpuna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lokalna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autonomija</a:t>
            </a:r>
            <a:r>
              <a:rPr sz="1600" dirty="0">
                <a:solidFill>
                  <a:schemeClr val="bg1"/>
                </a:solidFill>
              </a:rPr>
              <a:t>: </a:t>
            </a:r>
            <a:r>
              <a:rPr sz="1600" dirty="0" err="1">
                <a:solidFill>
                  <a:schemeClr val="bg1"/>
                </a:solidFill>
              </a:rPr>
              <a:t>Cijeli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komunikacijski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lanac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radi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unutar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vlastite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WiFi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pristupne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točke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ili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kućne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mreže</a:t>
            </a:r>
            <a:r>
              <a:rPr sz="1600" dirty="0">
                <a:solidFill>
                  <a:schemeClr val="bg1"/>
                </a:solidFill>
              </a:rPr>
              <a:t>. </a:t>
            </a:r>
            <a:endParaRPr lang="hr-HR" sz="1600" dirty="0">
              <a:solidFill>
                <a:schemeClr val="bg1"/>
              </a:solidFill>
            </a:endParaRPr>
          </a:p>
          <a:p>
            <a:pPr>
              <a:defRPr sz="1500">
                <a:solidFill>
                  <a:srgbClr val="94A3B8"/>
                </a:solidFill>
              </a:defRPr>
            </a:pPr>
            <a:endParaRPr lang="hr-HR" sz="1600" dirty="0">
              <a:solidFill>
                <a:schemeClr val="bg1"/>
              </a:solidFill>
            </a:endParaRPr>
          </a:p>
          <a:p>
            <a:pPr>
              <a:defRPr sz="1500">
                <a:solidFill>
                  <a:srgbClr val="94A3B8"/>
                </a:solidFill>
              </a:defRPr>
            </a:pPr>
            <a:r>
              <a:rPr lang="hr-HR" sz="1600" dirty="0">
                <a:solidFill>
                  <a:schemeClr val="bg1"/>
                </a:solidFill>
              </a:rPr>
              <a:t>• </a:t>
            </a:r>
            <a:r>
              <a:rPr sz="1600" dirty="0" err="1">
                <a:solidFill>
                  <a:schemeClr val="bg1"/>
                </a:solidFill>
              </a:rPr>
              <a:t>Sustav</a:t>
            </a:r>
            <a:r>
              <a:rPr sz="1600" dirty="0">
                <a:solidFill>
                  <a:schemeClr val="bg1"/>
                </a:solidFill>
              </a:rPr>
              <a:t> je </a:t>
            </a:r>
            <a:r>
              <a:rPr sz="1600" dirty="0" err="1">
                <a:solidFill>
                  <a:schemeClr val="bg1"/>
                </a:solidFill>
              </a:rPr>
              <a:t>neovisan</a:t>
            </a:r>
            <a:r>
              <a:rPr sz="1600" dirty="0">
                <a:solidFill>
                  <a:schemeClr val="bg1"/>
                </a:solidFill>
              </a:rPr>
              <a:t> o </a:t>
            </a:r>
            <a:r>
              <a:rPr sz="1600" dirty="0" err="1">
                <a:solidFill>
                  <a:schemeClr val="bg1"/>
                </a:solidFill>
              </a:rPr>
              <a:t>vanjskom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internetu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i</a:t>
            </a:r>
            <a:r>
              <a:rPr sz="1600" dirty="0">
                <a:solidFill>
                  <a:schemeClr val="bg1"/>
                </a:solidFill>
              </a:rPr>
              <a:t> cloud </a:t>
            </a:r>
            <a:r>
              <a:rPr sz="1600" dirty="0" err="1">
                <a:solidFill>
                  <a:schemeClr val="bg1"/>
                </a:solidFill>
              </a:rPr>
              <a:t>poslužiteljima</a:t>
            </a:r>
            <a:r>
              <a:rPr sz="1600" dirty="0">
                <a:solidFill>
                  <a:schemeClr val="bg1"/>
                </a:solidFill>
              </a:rPr>
              <a:t>, </a:t>
            </a:r>
            <a:r>
              <a:rPr sz="1600" dirty="0" err="1">
                <a:solidFill>
                  <a:schemeClr val="bg1"/>
                </a:solidFill>
              </a:rPr>
              <a:t>što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eliminira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kašnjenje</a:t>
            </a:r>
            <a:r>
              <a:rPr sz="1600" dirty="0">
                <a:solidFill>
                  <a:schemeClr val="bg1"/>
                </a:solidFill>
              </a:rPr>
              <a:t> (</a:t>
            </a:r>
            <a:r>
              <a:rPr sz="1600" dirty="0" err="1">
                <a:solidFill>
                  <a:schemeClr val="bg1"/>
                </a:solidFill>
              </a:rPr>
              <a:t>latenciju</a:t>
            </a:r>
            <a:r>
              <a:rPr sz="1600" dirty="0">
                <a:solidFill>
                  <a:schemeClr val="bg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AAD0C-0E7C-AD97-5FBC-52A8712A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6E4DA8-4CEA-26BA-7C86-0843C705EA0B}"/>
              </a:ext>
            </a:extLst>
          </p:cNvPr>
          <p:cNvSpPr txBox="1"/>
          <p:nvPr/>
        </p:nvSpPr>
        <p:spPr>
          <a:xfrm>
            <a:off x="658368" y="180201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rPr dirty="0" err="1"/>
              <a:t>Struktura</a:t>
            </a:r>
            <a:r>
              <a:rPr dirty="0"/>
              <a:t> </a:t>
            </a:r>
            <a:r>
              <a:rPr lang="hr-HR" dirty="0"/>
              <a:t>projekta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2C7B7-C5C8-2539-188A-E91EDAD48CFF}"/>
              </a:ext>
            </a:extLst>
          </p:cNvPr>
          <p:cNvSpPr txBox="1"/>
          <p:nvPr/>
        </p:nvSpPr>
        <p:spPr>
          <a:xfrm>
            <a:off x="658368" y="1170432"/>
            <a:ext cx="7342632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94A3B8"/>
                </a:solidFill>
              </a:defRPr>
            </a:pPr>
            <a:r>
              <a:rPr b="1" dirty="0">
                <a:solidFill>
                  <a:schemeClr val="bg1"/>
                </a:solidFill>
              </a:rPr>
              <a:t>Firmware Core </a:t>
            </a:r>
            <a:r>
              <a:rPr dirty="0">
                <a:solidFill>
                  <a:schemeClr val="bg1"/>
                </a:solidFill>
              </a:rPr>
              <a:t>(.</a:t>
            </a:r>
            <a:r>
              <a:rPr dirty="0" err="1">
                <a:solidFill>
                  <a:schemeClr val="bg1"/>
                </a:solidFill>
              </a:rPr>
              <a:t>ino</a:t>
            </a:r>
            <a:r>
              <a:rPr dirty="0">
                <a:solidFill>
                  <a:schemeClr val="bg1"/>
                </a:solidFill>
              </a:rPr>
              <a:t> / .</a:t>
            </a:r>
            <a:r>
              <a:rPr dirty="0" err="1">
                <a:solidFill>
                  <a:schemeClr val="bg1"/>
                </a:solidFill>
              </a:rPr>
              <a:t>cpp</a:t>
            </a:r>
            <a:r>
              <a:rPr dirty="0">
                <a:solidFill>
                  <a:schemeClr val="bg1"/>
                </a:solidFill>
              </a:rPr>
              <a:t>):</a:t>
            </a:r>
            <a:r>
              <a:rPr dirty="0" err="1">
                <a:solidFill>
                  <a:schemeClr val="bg1"/>
                </a:solidFill>
              </a:rPr>
              <a:t>Središnja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logika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pisana</a:t>
            </a:r>
            <a:r>
              <a:rPr dirty="0">
                <a:solidFill>
                  <a:schemeClr val="bg1"/>
                </a:solidFill>
              </a:rPr>
              <a:t> u Arduino </a:t>
            </a:r>
            <a:r>
              <a:rPr dirty="0" err="1">
                <a:solidFill>
                  <a:schemeClr val="bg1"/>
                </a:solidFill>
              </a:rPr>
              <a:t>frameworku</a:t>
            </a:r>
            <a:r>
              <a:rPr dirty="0">
                <a:solidFill>
                  <a:schemeClr val="bg1"/>
                </a:solidFill>
              </a:rPr>
              <a:t>. </a:t>
            </a:r>
            <a:r>
              <a:rPr dirty="0" err="1">
                <a:solidFill>
                  <a:schemeClr val="bg1"/>
                </a:solidFill>
              </a:rPr>
              <a:t>Upravlja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inicijalizacijom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hardverskih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pinova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mrežnim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uslugama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asinkronim</a:t>
            </a:r>
            <a:r>
              <a:rPr dirty="0">
                <a:solidFill>
                  <a:schemeClr val="bg1"/>
                </a:solidFill>
              </a:rPr>
              <a:t> WebSocket </a:t>
            </a:r>
            <a:r>
              <a:rPr dirty="0" err="1">
                <a:solidFill>
                  <a:schemeClr val="bg1"/>
                </a:solidFill>
              </a:rPr>
              <a:t>streamom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podataka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1800"/>
              </a:spcAft>
              <a:defRPr sz="1500">
                <a:solidFill>
                  <a:srgbClr val="94A3B8"/>
                </a:solidFill>
              </a:defRPr>
            </a:pPr>
            <a:r>
              <a:rPr lang="hr-HR" b="1" dirty="0">
                <a:solidFill>
                  <a:schemeClr val="bg1"/>
                </a:solidFill>
              </a:rPr>
              <a:t>data/ direktorij </a:t>
            </a:r>
            <a:r>
              <a:rPr lang="hr-HR" dirty="0">
                <a:solidFill>
                  <a:schemeClr val="bg1"/>
                </a:solidFill>
              </a:rPr>
              <a:t>(</a:t>
            </a:r>
            <a:r>
              <a:rPr lang="hr-HR" dirty="0" err="1">
                <a:solidFill>
                  <a:schemeClr val="bg1"/>
                </a:solidFill>
              </a:rPr>
              <a:t>LittleFS</a:t>
            </a:r>
            <a:r>
              <a:rPr lang="hr-HR" dirty="0">
                <a:solidFill>
                  <a:schemeClr val="bg1"/>
                </a:solidFill>
              </a:rPr>
              <a:t>): Mapirana izolirana particija unutar </a:t>
            </a:r>
            <a:r>
              <a:rPr lang="hr-HR" dirty="0" err="1">
                <a:solidFill>
                  <a:schemeClr val="bg1"/>
                </a:solidFill>
              </a:rPr>
              <a:t>flash</a:t>
            </a:r>
            <a:r>
              <a:rPr lang="hr-HR" dirty="0">
                <a:solidFill>
                  <a:schemeClr val="bg1"/>
                </a:solidFill>
              </a:rPr>
              <a:t> memorije ESP8266 čipa. Omogućava trajno pohranjivanje </a:t>
            </a:r>
            <a:r>
              <a:rPr lang="hr-HR" dirty="0" err="1">
                <a:solidFill>
                  <a:schemeClr val="bg1"/>
                </a:solidFill>
              </a:rPr>
              <a:t>frontend</a:t>
            </a:r>
            <a:r>
              <a:rPr lang="hr-HR" dirty="0">
                <a:solidFill>
                  <a:schemeClr val="bg1"/>
                </a:solidFill>
              </a:rPr>
              <a:t> datoteka izravno na </a:t>
            </a:r>
            <a:r>
              <a:rPr lang="hr-HR" dirty="0" err="1">
                <a:solidFill>
                  <a:schemeClr val="bg1"/>
                </a:solidFill>
              </a:rPr>
              <a:t>mikrokontroleru</a:t>
            </a:r>
            <a:r>
              <a:rPr lang="hr-HR" dirty="0">
                <a:solidFill>
                  <a:schemeClr val="bg1"/>
                </a:solidFill>
              </a:rPr>
              <a:t> bez potrebe za vanjskim hostingom.</a:t>
            </a:r>
          </a:p>
          <a:p>
            <a:pPr>
              <a:spcAft>
                <a:spcPts val="1800"/>
              </a:spcAft>
              <a:defRPr sz="1500">
                <a:solidFill>
                  <a:srgbClr val="94A3B8"/>
                </a:solidFill>
              </a:defRPr>
            </a:pPr>
            <a:r>
              <a:rPr b="1" dirty="0">
                <a:solidFill>
                  <a:schemeClr val="bg1"/>
                </a:solidFill>
              </a:rPr>
              <a:t>index.css &amp; logger.css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Razdvojena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organizacija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stilova</a:t>
            </a:r>
            <a:r>
              <a:rPr dirty="0">
                <a:solidFill>
                  <a:schemeClr val="bg1"/>
                </a:solidFill>
              </a:rPr>
              <a:t>. index.css </a:t>
            </a:r>
            <a:r>
              <a:rPr dirty="0" err="1">
                <a:solidFill>
                  <a:schemeClr val="bg1"/>
                </a:solidFill>
              </a:rPr>
              <a:t>postavlja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moderan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čist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raspored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elemenata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dashboarda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dok</a:t>
            </a:r>
            <a:r>
              <a:rPr dirty="0">
                <a:solidFill>
                  <a:schemeClr val="bg1"/>
                </a:solidFill>
              </a:rPr>
              <a:t> logger.css </a:t>
            </a:r>
            <a:r>
              <a:rPr dirty="0" err="1">
                <a:solidFill>
                  <a:schemeClr val="bg1"/>
                </a:solidFill>
              </a:rPr>
              <a:t>pruža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namjenski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izgled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hr-HR" dirty="0">
                <a:solidFill>
                  <a:schemeClr val="bg1"/>
                </a:solidFill>
              </a:rPr>
              <a:t>za </a:t>
            </a:r>
            <a:r>
              <a:rPr lang="hr-HR" dirty="0" err="1">
                <a:solidFill>
                  <a:schemeClr val="bg1"/>
                </a:solidFill>
              </a:rPr>
              <a:t>praćnje</a:t>
            </a:r>
            <a:r>
              <a:rPr lang="hr-HR" dirty="0">
                <a:solidFill>
                  <a:schemeClr val="bg1"/>
                </a:solidFill>
              </a:rPr>
              <a:t> upisanih veza</a:t>
            </a:r>
            <a:r>
              <a:rPr dirty="0">
                <a:solidFill>
                  <a:schemeClr val="bg1"/>
                </a:solidFill>
              </a:rPr>
              <a:t>.</a:t>
            </a:r>
            <a:endParaRPr lang="hr-HR" dirty="0">
              <a:solidFill>
                <a:schemeClr val="bg1"/>
              </a:solidFill>
            </a:endParaRPr>
          </a:p>
          <a:p>
            <a:pPr>
              <a:spcAft>
                <a:spcPts val="1800"/>
              </a:spcAft>
              <a:defRPr sz="1500">
                <a:solidFill>
                  <a:srgbClr val="94A3B8"/>
                </a:solidFill>
              </a:defRPr>
            </a:pPr>
            <a:r>
              <a:rPr lang="hr-HR" b="1" dirty="0">
                <a:solidFill>
                  <a:schemeClr val="bg1"/>
                </a:solidFill>
              </a:rPr>
              <a:t>JavaScript logika </a:t>
            </a:r>
            <a:r>
              <a:rPr lang="hr-HR" dirty="0">
                <a:solidFill>
                  <a:schemeClr val="bg1"/>
                </a:solidFill>
              </a:rPr>
              <a:t>(.</a:t>
            </a:r>
            <a:r>
              <a:rPr lang="hr-HR" dirty="0" err="1">
                <a:solidFill>
                  <a:schemeClr val="bg1"/>
                </a:solidFill>
              </a:rPr>
              <a:t>js</a:t>
            </a:r>
            <a:r>
              <a:rPr lang="hr-HR" dirty="0">
                <a:solidFill>
                  <a:schemeClr val="bg1"/>
                </a:solidFill>
              </a:rPr>
              <a:t> / Asinkroni AJAX): Klijentska logika zadužena za dinamičko osvježavanje sučelja u realnom vremenu (kut kompasa, telemetrija, tablica logova) putem </a:t>
            </a:r>
            <a:r>
              <a:rPr lang="hr-HR" dirty="0" err="1">
                <a:solidFill>
                  <a:schemeClr val="bg1"/>
                </a:solidFill>
              </a:rPr>
              <a:t>fetch</a:t>
            </a:r>
            <a:r>
              <a:rPr lang="hr-HR" dirty="0">
                <a:solidFill>
                  <a:schemeClr val="bg1"/>
                </a:solidFill>
              </a:rPr>
              <a:t> API-ja, eliminirajući potrebu za ponovnim učitavanjem stranica.</a:t>
            </a:r>
          </a:p>
          <a:p>
            <a:pPr>
              <a:spcAft>
                <a:spcPts val="1800"/>
              </a:spcAft>
              <a:defRPr sz="1500">
                <a:solidFill>
                  <a:srgbClr val="94A3B8"/>
                </a:solidFill>
              </a:defRPr>
            </a:pPr>
            <a:r>
              <a:rPr lang="hr-HR" b="1" dirty="0">
                <a:solidFill>
                  <a:schemeClr val="bg1"/>
                </a:solidFill>
              </a:rPr>
              <a:t>REST API &amp; JSON komunikacija</a:t>
            </a:r>
            <a:r>
              <a:rPr lang="hr-HR" dirty="0">
                <a:solidFill>
                  <a:schemeClr val="bg1"/>
                </a:solidFill>
              </a:rPr>
              <a:t>: Standardizirani kanal za razmjenu informacija između klijentskog preglednika i </a:t>
            </a:r>
            <a:r>
              <a:rPr lang="hr-HR" dirty="0" err="1">
                <a:solidFill>
                  <a:schemeClr val="bg1"/>
                </a:solidFill>
              </a:rPr>
              <a:t>mikrokontrolera</a:t>
            </a:r>
            <a:r>
              <a:rPr lang="hr-HR" dirty="0">
                <a:solidFill>
                  <a:schemeClr val="bg1"/>
                </a:solidFill>
              </a:rPr>
              <a:t>. Omogućuje lagan, siguran i brz prijenos podataka o senzorima, motoru i QSO kontaktima u strukturiranom obliku.</a:t>
            </a:r>
          </a:p>
          <a:p>
            <a:pPr>
              <a:spcAft>
                <a:spcPts val="1800"/>
              </a:spcAft>
              <a:defRPr sz="1500">
                <a:solidFill>
                  <a:srgbClr val="94A3B8"/>
                </a:solidFill>
              </a:defRPr>
            </a:pPr>
            <a:r>
              <a:rPr lang="hr-HR" b="1" dirty="0">
                <a:solidFill>
                  <a:schemeClr val="bg1"/>
                </a:solidFill>
              </a:rPr>
              <a:t>DXCC prefiksi (</a:t>
            </a:r>
            <a:r>
              <a:rPr lang="hr-HR" b="1" dirty="0" err="1">
                <a:solidFill>
                  <a:schemeClr val="bg1"/>
                </a:solidFill>
              </a:rPr>
              <a:t>prefixes.json</a:t>
            </a:r>
            <a:r>
              <a:rPr lang="hr-HR" dirty="0">
                <a:solidFill>
                  <a:schemeClr val="bg1"/>
                </a:solidFill>
              </a:rPr>
              <a:t>): Lokalna statička baza podataka spremljena na </a:t>
            </a:r>
            <a:r>
              <a:rPr lang="hr-HR" dirty="0" err="1">
                <a:solidFill>
                  <a:schemeClr val="bg1"/>
                </a:solidFill>
              </a:rPr>
              <a:t>flash</a:t>
            </a:r>
            <a:r>
              <a:rPr lang="hr-HR" dirty="0">
                <a:solidFill>
                  <a:schemeClr val="bg1"/>
                </a:solidFill>
              </a:rPr>
              <a:t> memoriju koja omogućuje trenutačno, </a:t>
            </a:r>
            <a:r>
              <a:rPr lang="hr-HR" dirty="0" err="1">
                <a:solidFill>
                  <a:schemeClr val="bg1"/>
                </a:solidFill>
              </a:rPr>
              <a:t>izvanmrežno</a:t>
            </a:r>
            <a:r>
              <a:rPr lang="hr-HR" dirty="0">
                <a:solidFill>
                  <a:schemeClr val="bg1"/>
                </a:solidFill>
              </a:rPr>
              <a:t> (offline) prepoznavanje država i prikaz zastava izravno na temelju unesenog pozivnog znaka u dnevniku.</a:t>
            </a:r>
          </a:p>
        </p:txBody>
      </p:sp>
    </p:spTree>
    <p:extLst>
      <p:ext uri="{BB962C8B-B14F-4D97-AF65-F5344CB8AC3E}">
        <p14:creationId xmlns:p14="http://schemas.microsoft.com/office/powerpoint/2010/main" val="1129319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Web Dashboard i Korisničko sučelje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1B23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800"/>
              </a:spcAft>
              <a:defRPr sz="1800" b="1">
                <a:solidFill>
                  <a:srgbClr val="EC4899"/>
                </a:solidFill>
              </a:defRPr>
            </a:pPr>
            <a:r>
              <a:t>1. Odabir Antene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Integrirana meka softverska sklopka na sučelju.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Brzo prebacivanje između omnidirekcijskog (GP) i usmjerenog (Yagi) rada.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Trenutna vizualna potvrda aktivnog relejnog stanja.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1B23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800"/>
              </a:spcAft>
              <a:defRPr sz="1800" b="1">
                <a:solidFill>
                  <a:srgbClr val="EC4899"/>
                </a:solidFill>
              </a:defRPr>
            </a:pPr>
            <a:r>
              <a:t>2. Kontrola pozicioniranja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Interaktivno polje za unos željenog kuta azimuta u stupnjevima.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Slanje koordinata jednim klikom bez kašnjenja.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Prikaz stvarnog kretanja i trenutne pozicije rotator/servo sustava.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291840" cy="3840480"/>
          </a:xfrm>
          <a:prstGeom prst="roundRect">
            <a:avLst/>
          </a:prstGeom>
          <a:solidFill>
            <a:srgbClr val="1B23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800"/>
              </a:spcAft>
              <a:defRPr sz="1800" b="1">
                <a:solidFill>
                  <a:srgbClr val="EC4899"/>
                </a:solidFill>
              </a:defRPr>
            </a:pPr>
            <a:r>
              <a:t>3. Integrirani Logger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Namjenska ugrađena tekstualna konzola na dnu ekrana.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Uživo ispisuje status mrežnih konekcija i hardverskih naredbi.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Radi asinkrono kroz JavaScript (nema potrebe za osvježavanjem stranice).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ESP8266 Backend i API Komunikacija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AFAFA"/>
                </a:solidFill>
              </a:defRPr>
            </a:pPr>
            <a:r>
              <a:rPr dirty="0" err="1"/>
              <a:t>Upravljanje</a:t>
            </a:r>
            <a:r>
              <a:rPr dirty="0"/>
              <a:t> </a:t>
            </a:r>
            <a:r>
              <a:rPr dirty="0" err="1"/>
              <a:t>zahtjevima</a:t>
            </a:r>
            <a:r>
              <a:rPr dirty="0"/>
              <a:t> </a:t>
            </a:r>
            <a:r>
              <a:rPr dirty="0" err="1"/>
              <a:t>preko</a:t>
            </a:r>
            <a:r>
              <a:rPr dirty="0"/>
              <a:t> </a:t>
            </a:r>
            <a:r>
              <a:rPr dirty="0" err="1"/>
              <a:t>ugrađenog</a:t>
            </a:r>
            <a:r>
              <a:rPr dirty="0"/>
              <a:t> </a:t>
            </a:r>
            <a:r>
              <a:rPr dirty="0" err="1"/>
              <a:t>poslužitelja</a:t>
            </a:r>
            <a:r>
              <a:rPr dirty="0"/>
              <a:t>: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Sustav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koristi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klasu</a:t>
            </a:r>
            <a:r>
              <a:rPr dirty="0">
                <a:solidFill>
                  <a:schemeClr val="bg1"/>
                </a:solidFill>
              </a:rPr>
              <a:t> ESP8266WebServer za </a:t>
            </a:r>
            <a:r>
              <a:rPr dirty="0" err="1">
                <a:solidFill>
                  <a:schemeClr val="bg1"/>
                </a:solidFill>
              </a:rPr>
              <a:t>definiranje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mapiranje</a:t>
            </a:r>
            <a:r>
              <a:rPr dirty="0">
                <a:solidFill>
                  <a:schemeClr val="bg1"/>
                </a:solidFill>
              </a:rPr>
              <a:t> REST API </a:t>
            </a:r>
            <a:r>
              <a:rPr dirty="0" err="1">
                <a:solidFill>
                  <a:schemeClr val="bg1"/>
                </a:solidFill>
              </a:rPr>
              <a:t>endpointova</a:t>
            </a:r>
            <a:r>
              <a:rPr dirty="0">
                <a:solidFill>
                  <a:schemeClr val="bg1"/>
                </a:solidFill>
              </a:rPr>
              <a:t>. </a:t>
            </a:r>
            <a:r>
              <a:rPr dirty="0" err="1">
                <a:solidFill>
                  <a:schemeClr val="bg1"/>
                </a:solidFill>
              </a:rPr>
              <a:t>Razmjena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statusnih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parametara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obavlja</a:t>
            </a:r>
            <a:r>
              <a:rPr dirty="0">
                <a:solidFill>
                  <a:schemeClr val="bg1"/>
                </a:solidFill>
              </a:rPr>
              <a:t> se </a:t>
            </a:r>
            <a:r>
              <a:rPr dirty="0" err="1">
                <a:solidFill>
                  <a:schemeClr val="bg1"/>
                </a:solidFill>
              </a:rPr>
              <a:t>isključivo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asinkrono</a:t>
            </a:r>
            <a:r>
              <a:rPr dirty="0">
                <a:solidFill>
                  <a:schemeClr val="bg1"/>
                </a:solidFill>
              </a:rPr>
              <a:t> u </a:t>
            </a:r>
            <a:r>
              <a:rPr dirty="0" err="1">
                <a:solidFill>
                  <a:schemeClr val="bg1"/>
                </a:solidFill>
              </a:rPr>
              <a:t>strukturiranom</a:t>
            </a:r>
            <a:r>
              <a:rPr dirty="0">
                <a:solidFill>
                  <a:schemeClr val="bg1"/>
                </a:solidFill>
              </a:rPr>
              <a:t> JSON </a:t>
            </a:r>
            <a:r>
              <a:rPr dirty="0" err="1">
                <a:solidFill>
                  <a:schemeClr val="bg1"/>
                </a:solidFill>
              </a:rPr>
              <a:t>formatu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defRPr sz="1500" b="1">
                <a:solidFill>
                  <a:srgbClr val="EC4899"/>
                </a:solidFill>
              </a:defRPr>
            </a:pPr>
            <a:r>
              <a:rPr dirty="0" err="1"/>
              <a:t>Glavne</a:t>
            </a:r>
            <a:r>
              <a:rPr dirty="0"/>
              <a:t> </a:t>
            </a:r>
            <a:r>
              <a:rPr dirty="0" err="1"/>
              <a:t>programske</a:t>
            </a:r>
            <a:r>
              <a:rPr dirty="0"/>
              <a:t> </a:t>
            </a:r>
            <a:r>
              <a:rPr dirty="0" err="1"/>
              <a:t>rute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čipu</a:t>
            </a:r>
            <a:r>
              <a:rPr dirty="0"/>
              <a:t>:</a:t>
            </a:r>
          </a:p>
          <a:p>
            <a:pPr>
              <a:spcBef>
                <a:spcPts val="1000"/>
              </a:spcBef>
              <a:defRPr sz="1300">
                <a:solidFill>
                  <a:srgbClr val="FAFAFA"/>
                </a:solidFill>
                <a:latin typeface="Consolas"/>
              </a:defRPr>
            </a:pPr>
            <a:r>
              <a:rPr dirty="0" err="1"/>
              <a:t>server.on</a:t>
            </a:r>
            <a:r>
              <a:rPr dirty="0"/>
              <a:t>("/", HTTP_GET, </a:t>
            </a:r>
            <a:r>
              <a:rPr dirty="0" err="1"/>
              <a:t>handleRoot</a:t>
            </a:r>
            <a:r>
              <a:rPr dirty="0"/>
              <a:t>);</a:t>
            </a:r>
            <a:br>
              <a:rPr dirty="0"/>
            </a:br>
            <a:r>
              <a:rPr dirty="0" err="1"/>
              <a:t>server.on</a:t>
            </a:r>
            <a:r>
              <a:rPr dirty="0"/>
              <a:t>("/</a:t>
            </a:r>
            <a:r>
              <a:rPr dirty="0" err="1"/>
              <a:t>set_antenna</a:t>
            </a:r>
            <a:r>
              <a:rPr dirty="0"/>
              <a:t>", HTTP_POST, </a:t>
            </a:r>
            <a:r>
              <a:rPr dirty="0" err="1"/>
              <a:t>handleAntenna</a:t>
            </a:r>
            <a:r>
              <a:rPr dirty="0"/>
              <a:t>);</a:t>
            </a:r>
            <a:br>
              <a:rPr dirty="0"/>
            </a:br>
            <a:r>
              <a:rPr dirty="0" err="1"/>
              <a:t>server.on</a:t>
            </a:r>
            <a:r>
              <a:rPr dirty="0"/>
              <a:t>("/</a:t>
            </a:r>
            <a:r>
              <a:rPr dirty="0" err="1"/>
              <a:t>set_steps</a:t>
            </a:r>
            <a:r>
              <a:rPr dirty="0"/>
              <a:t>", HTTP_POST, </a:t>
            </a:r>
            <a:r>
              <a:rPr dirty="0" err="1"/>
              <a:t>handleSteps</a:t>
            </a:r>
            <a:r>
              <a:rPr dirty="0"/>
              <a:t>);</a:t>
            </a:r>
            <a:br>
              <a:rPr dirty="0"/>
            </a:br>
            <a:r>
              <a:rPr dirty="0" err="1"/>
              <a:t>server.on</a:t>
            </a:r>
            <a:r>
              <a:rPr dirty="0"/>
              <a:t>("/</a:t>
            </a:r>
            <a:r>
              <a:rPr dirty="0" err="1"/>
              <a:t>get_status</a:t>
            </a:r>
            <a:r>
              <a:rPr dirty="0"/>
              <a:t>", HTTP_GET, </a:t>
            </a:r>
            <a:r>
              <a:rPr dirty="0" err="1"/>
              <a:t>handleGetStatus</a:t>
            </a:r>
            <a:r>
              <a:rPr dirty="0"/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rPr b="1" dirty="0" err="1">
                <a:solidFill>
                  <a:schemeClr val="bg1"/>
                </a:solidFill>
              </a:rPr>
              <a:t>Dvosmjerni</a:t>
            </a:r>
            <a:r>
              <a:rPr b="1" dirty="0">
                <a:solidFill>
                  <a:schemeClr val="bg1"/>
                </a:solidFill>
              </a:rPr>
              <a:t> WebSocket Stream</a:t>
            </a:r>
            <a:r>
              <a:rPr dirty="0">
                <a:solidFill>
                  <a:schemeClr val="bg1"/>
                </a:solidFill>
              </a:rPr>
              <a:t>: Za </a:t>
            </a:r>
            <a:r>
              <a:rPr dirty="0" err="1">
                <a:solidFill>
                  <a:schemeClr val="bg1"/>
                </a:solidFill>
              </a:rPr>
              <a:t>razliku</a:t>
            </a:r>
            <a:r>
              <a:rPr dirty="0">
                <a:solidFill>
                  <a:schemeClr val="bg1"/>
                </a:solidFill>
              </a:rPr>
              <a:t> od </a:t>
            </a:r>
            <a:r>
              <a:rPr dirty="0" err="1">
                <a:solidFill>
                  <a:schemeClr val="bg1"/>
                </a:solidFill>
              </a:rPr>
              <a:t>tradicionalnog</a:t>
            </a:r>
            <a:r>
              <a:rPr dirty="0">
                <a:solidFill>
                  <a:schemeClr val="bg1"/>
                </a:solidFill>
              </a:rPr>
              <a:t> HTTP </a:t>
            </a:r>
            <a:r>
              <a:rPr dirty="0" err="1">
                <a:solidFill>
                  <a:schemeClr val="bg1"/>
                </a:solidFill>
              </a:rPr>
              <a:t>pollinga</a:t>
            </a:r>
            <a:r>
              <a:rPr dirty="0">
                <a:solidFill>
                  <a:schemeClr val="bg1"/>
                </a:solidFill>
              </a:rPr>
              <a:t> koji </a:t>
            </a:r>
            <a:r>
              <a:rPr dirty="0" err="1">
                <a:solidFill>
                  <a:schemeClr val="bg1"/>
                </a:solidFill>
              </a:rPr>
              <a:t>opterećuje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mikrokontroler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stalna</a:t>
            </a:r>
            <a:r>
              <a:rPr dirty="0">
                <a:solidFill>
                  <a:schemeClr val="bg1"/>
                </a:solidFill>
              </a:rPr>
              <a:t> WebSocket </a:t>
            </a:r>
            <a:r>
              <a:rPr dirty="0" err="1">
                <a:solidFill>
                  <a:schemeClr val="bg1"/>
                </a:solidFill>
              </a:rPr>
              <a:t>veza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omogućava</a:t>
            </a:r>
            <a:r>
              <a:rPr dirty="0">
                <a:solidFill>
                  <a:schemeClr val="bg1"/>
                </a:solidFill>
              </a:rPr>
              <a:t> ESP8266 </a:t>
            </a:r>
            <a:r>
              <a:rPr dirty="0" err="1">
                <a:solidFill>
                  <a:schemeClr val="bg1"/>
                </a:solidFill>
              </a:rPr>
              <a:t>čipu</a:t>
            </a:r>
            <a:r>
              <a:rPr dirty="0">
                <a:solidFill>
                  <a:schemeClr val="bg1"/>
                </a:solidFill>
              </a:rPr>
              <a:t> da </a:t>
            </a:r>
            <a:r>
              <a:rPr dirty="0" err="1">
                <a:solidFill>
                  <a:schemeClr val="bg1"/>
                </a:solidFill>
              </a:rPr>
              <a:t>trenutno</a:t>
            </a:r>
            <a:r>
              <a:rPr dirty="0">
                <a:solidFill>
                  <a:schemeClr val="bg1"/>
                </a:solidFill>
              </a:rPr>
              <a:t> '</a:t>
            </a:r>
            <a:r>
              <a:rPr dirty="0" err="1">
                <a:solidFill>
                  <a:schemeClr val="bg1"/>
                </a:solidFill>
              </a:rPr>
              <a:t>gurne</a:t>
            </a:r>
            <a:r>
              <a:rPr dirty="0">
                <a:solidFill>
                  <a:schemeClr val="bg1"/>
                </a:solidFill>
              </a:rPr>
              <a:t>' (push) </a:t>
            </a:r>
            <a:r>
              <a:rPr dirty="0" err="1">
                <a:solidFill>
                  <a:schemeClr val="bg1"/>
                </a:solidFill>
              </a:rPr>
              <a:t>podatke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pregledniku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čim</a:t>
            </a:r>
            <a:r>
              <a:rPr dirty="0">
                <a:solidFill>
                  <a:schemeClr val="bg1"/>
                </a:solidFill>
              </a:rPr>
              <a:t> se </a:t>
            </a:r>
            <a:r>
              <a:rPr dirty="0" err="1">
                <a:solidFill>
                  <a:schemeClr val="bg1"/>
                </a:solidFill>
              </a:rPr>
              <a:t>dogodi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promjena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rPr b="1" dirty="0">
                <a:solidFill>
                  <a:schemeClr val="bg1"/>
                </a:solidFill>
              </a:rPr>
              <a:t>Mala </a:t>
            </a:r>
            <a:r>
              <a:rPr b="1" dirty="0" err="1">
                <a:solidFill>
                  <a:schemeClr val="bg1"/>
                </a:solidFill>
              </a:rPr>
              <a:t>latencija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i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pouzdanost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Sinkronizacija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telemetrije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senzora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ispis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zapisa</a:t>
            </a:r>
            <a:r>
              <a:rPr dirty="0">
                <a:solidFill>
                  <a:schemeClr val="bg1"/>
                </a:solidFill>
              </a:rPr>
              <a:t> u </a:t>
            </a:r>
            <a:r>
              <a:rPr dirty="0" err="1">
                <a:solidFill>
                  <a:schemeClr val="bg1"/>
                </a:solidFill>
              </a:rPr>
              <a:t>konzolu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izvršavaju</a:t>
            </a:r>
            <a:r>
              <a:rPr dirty="0">
                <a:solidFill>
                  <a:schemeClr val="bg1"/>
                </a:solidFill>
              </a:rPr>
              <a:t> se u </a:t>
            </a:r>
            <a:r>
              <a:rPr dirty="0" err="1">
                <a:solidFill>
                  <a:schemeClr val="bg1"/>
                </a:solidFill>
              </a:rPr>
              <a:t>milisekundama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što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pruža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osjećaj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izravne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fizičke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povezanosti</a:t>
            </a:r>
            <a:r>
              <a:rPr dirty="0">
                <a:solidFill>
                  <a:schemeClr val="bg1"/>
                </a:solidFill>
              </a:rPr>
              <a:t> s </a:t>
            </a:r>
            <a:r>
              <a:rPr dirty="0" err="1">
                <a:solidFill>
                  <a:schemeClr val="bg1"/>
                </a:solidFill>
              </a:rPr>
              <a:t>uređajem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Upravljanje antenama i logika rotatora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EC4899"/>
                </a:solidFill>
              </a:defRPr>
            </a:pPr>
            <a:r>
              <a:rPr dirty="0" err="1"/>
              <a:t>Relejna</a:t>
            </a:r>
            <a:r>
              <a:rPr dirty="0"/>
              <a:t> </a:t>
            </a:r>
            <a:r>
              <a:rPr dirty="0" err="1"/>
              <a:t>logika</a:t>
            </a:r>
            <a:r>
              <a:rPr dirty="0"/>
              <a:t> </a:t>
            </a:r>
            <a:r>
              <a:rPr dirty="0" err="1"/>
              <a:t>prebacivanja</a:t>
            </a:r>
            <a:endParaRPr dirty="0"/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Prebacivanje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visokofrekventnih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koaksijalnih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sklopki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izvedeno</a:t>
            </a:r>
            <a:r>
              <a:rPr dirty="0">
                <a:solidFill>
                  <a:schemeClr val="bg1"/>
                </a:solidFill>
              </a:rPr>
              <a:t> je </a:t>
            </a:r>
            <a:r>
              <a:rPr dirty="0" err="1">
                <a:solidFill>
                  <a:schemeClr val="bg1"/>
                </a:solidFill>
              </a:rPr>
              <a:t>preko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digitalnih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izlaza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mikrokontroleru</a:t>
            </a:r>
            <a:r>
              <a:rPr dirty="0">
                <a:solidFill>
                  <a:schemeClr val="bg1"/>
                </a:solidFill>
              </a:rPr>
              <a:t>. Stanja </a:t>
            </a:r>
            <a:r>
              <a:rPr dirty="0" err="1">
                <a:solidFill>
                  <a:schemeClr val="bg1"/>
                </a:solidFill>
              </a:rPr>
              <a:t>su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strogo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definirana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unutar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izvornog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koda</a:t>
            </a:r>
            <a:r>
              <a:rPr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5029200" cy="731520"/>
          </a:xfrm>
          <a:prstGeom prst="rect">
            <a:avLst/>
          </a:prstGeom>
          <a:solidFill>
            <a:srgbClr val="1B233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AFAFA"/>
                </a:solidFill>
              </a:defRPr>
            </a:pPr>
            <a:r>
              <a:t>Digital PIN State: HIGH  ──►  Aktivirana usmjerena Yagi antena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480560"/>
            <a:ext cx="5029200" cy="731520"/>
          </a:xfrm>
          <a:prstGeom prst="rect">
            <a:avLst/>
          </a:prstGeom>
          <a:solidFill>
            <a:srgbClr val="1B23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AFAFA"/>
                </a:solidFill>
              </a:defRPr>
            </a:pPr>
            <a:r>
              <a:t>Digital PIN State: LOW  ──►  Aktiviran osnovni GP (Omni) sustav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870448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EC4899"/>
                </a:solidFill>
              </a:defRPr>
            </a:pPr>
            <a:r>
              <a:rPr dirty="0" err="1"/>
              <a:t>Upravljanje</a:t>
            </a:r>
            <a:r>
              <a:rPr dirty="0"/>
              <a:t> </a:t>
            </a:r>
            <a:r>
              <a:rPr dirty="0" err="1"/>
              <a:t>pozicioniranjem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lang="hr-HR" dirty="0" err="1"/>
              <a:t>koračnim</a:t>
            </a:r>
            <a:r>
              <a:rPr dirty="0"/>
              <a:t> </a:t>
            </a:r>
            <a:r>
              <a:rPr dirty="0" err="1"/>
              <a:t>motorom</a:t>
            </a:r>
            <a:endParaRPr dirty="0"/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Endpoint /</a:t>
            </a:r>
            <a:r>
              <a:rPr dirty="0" err="1">
                <a:solidFill>
                  <a:schemeClr val="bg1"/>
                </a:solidFill>
              </a:rPr>
              <a:t>set_steps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prihvaća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tekstualni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ili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numerički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parametar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hr-HR" dirty="0">
                <a:solidFill>
                  <a:schemeClr val="bg1"/>
                </a:solidFill>
              </a:rPr>
              <a:t>  </a:t>
            </a:r>
            <a:r>
              <a:rPr dirty="0" err="1">
                <a:solidFill>
                  <a:schemeClr val="bg1"/>
                </a:solidFill>
              </a:rPr>
              <a:t>željenog</a:t>
            </a:r>
            <a:r>
              <a:rPr dirty="0">
                <a:solidFill>
                  <a:schemeClr val="bg1"/>
                </a:solidFill>
              </a:rPr>
              <a:t> kuta koji </a:t>
            </a:r>
            <a:r>
              <a:rPr dirty="0" err="1">
                <a:solidFill>
                  <a:schemeClr val="bg1"/>
                </a:solidFill>
              </a:rPr>
              <a:t>operater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unese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na</a:t>
            </a:r>
            <a:r>
              <a:rPr dirty="0">
                <a:solidFill>
                  <a:schemeClr val="bg1"/>
                </a:solidFill>
              </a:rPr>
              <a:t> web </a:t>
            </a:r>
            <a:r>
              <a:rPr dirty="0" err="1">
                <a:solidFill>
                  <a:schemeClr val="bg1"/>
                </a:solidFill>
              </a:rPr>
              <a:t>dashboardu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Firmware </a:t>
            </a:r>
            <a:r>
              <a:rPr dirty="0" err="1">
                <a:solidFill>
                  <a:schemeClr val="bg1"/>
                </a:solidFill>
              </a:rPr>
              <a:t>preračunava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ciljani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azimut</a:t>
            </a:r>
            <a:r>
              <a:rPr dirty="0">
                <a:solidFill>
                  <a:schemeClr val="bg1"/>
                </a:solidFill>
              </a:rPr>
              <a:t> u </a:t>
            </a:r>
            <a:r>
              <a:rPr dirty="0" err="1">
                <a:solidFill>
                  <a:schemeClr val="bg1"/>
                </a:solidFill>
              </a:rPr>
              <a:t>točan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broj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mikorokoraka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potrebnih</a:t>
            </a:r>
            <a:r>
              <a:rPr dirty="0">
                <a:solidFill>
                  <a:schemeClr val="bg1"/>
                </a:solidFill>
              </a:rPr>
              <a:t> za </a:t>
            </a:r>
            <a:r>
              <a:rPr dirty="0" err="1">
                <a:solidFill>
                  <a:schemeClr val="bg1"/>
                </a:solidFill>
              </a:rPr>
              <a:t>fizički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pomak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konstrukcije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Korištenjem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namjenskih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biblioteka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osigurano</a:t>
            </a:r>
            <a:r>
              <a:rPr dirty="0">
                <a:solidFill>
                  <a:schemeClr val="bg1"/>
                </a:solidFill>
              </a:rPr>
              <a:t> je </a:t>
            </a:r>
            <a:r>
              <a:rPr dirty="0" err="1">
                <a:solidFill>
                  <a:schemeClr val="bg1"/>
                </a:solidFill>
              </a:rPr>
              <a:t>glatko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pokretanje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zaustavljanje</a:t>
            </a:r>
            <a:r>
              <a:rPr dirty="0">
                <a:solidFill>
                  <a:schemeClr val="bg1"/>
                </a:solidFill>
              </a:rPr>
              <a:t> bez </a:t>
            </a:r>
            <a:r>
              <a:rPr dirty="0" err="1">
                <a:solidFill>
                  <a:schemeClr val="bg1"/>
                </a:solidFill>
              </a:rPr>
              <a:t>mehaničkih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udara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antenski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stup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Telemetrija i Zaštita sustava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B23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500"/>
              </a:spcAft>
              <a:defRPr sz="1800" b="1">
                <a:solidFill>
                  <a:srgbClr val="EC4899"/>
                </a:solidFill>
              </a:defRPr>
            </a:pPr>
            <a:r>
              <a:t>Senzorski podsustav (DHT22)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Mikrokontroler kontinuirano prikuplja podatke o temperaturi i relativnoj vlažnosti zraka.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Senzor je smješten unutar vanjske zaštitne kutije s elektronikom na stupu.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Praćenje parametara u realnom vremenu ključno je za detekciju kondenzacije ili pregrijavanja hardvera.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1B233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500"/>
              </a:spcAft>
              <a:defRPr sz="1800" b="1">
                <a:solidFill>
                  <a:srgbClr val="EC4899"/>
                </a:solidFill>
              </a:defRPr>
            </a:pPr>
            <a:r>
              <a:t>Aktivno sistemsko logiranje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Svaki ključni događaj (promjena antene, uspješno WiFi spajanje, rotacija motora) generira tekstualni zapis u firmwareu.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Putem otvorenog WebSocket kanala, poruke se trenutno isporučuju konzoli na dashboardu.</a:t>
            </a:r>
          </a:p>
          <a:p>
            <a:pPr>
              <a:spcAft>
                <a:spcPts val="1000"/>
              </a:spcAft>
              <a:defRPr sz="1400">
                <a:solidFill>
                  <a:srgbClr val="FAFAFA"/>
                </a:solidFill>
              </a:defRPr>
            </a:pPr>
            <a:r>
              <a:t>• Pruža operateru potpunu transparentnost rada i brzu dijagnostiku bez spajanja uređaja na računalo kabelom.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Integrirani Tehnološki Stog (Stack)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1828800"/>
          </a:xfrm>
          <a:prstGeom prst="roundRect">
            <a:avLst/>
          </a:prstGeom>
          <a:solidFill>
            <a:srgbClr val="1B2336"/>
          </a:solidFill>
          <a:ln>
            <a:solidFill>
              <a:srgbClr val="1B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EC4899"/>
                </a:solidFill>
              </a:defRPr>
            </a:pPr>
            <a:r>
              <a:rPr dirty="0"/>
              <a:t>ESP8266 &amp; Arduino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Hardverska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baza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optimizirani</a:t>
            </a:r>
            <a:r>
              <a:rPr dirty="0">
                <a:solidFill>
                  <a:schemeClr val="bg1"/>
                </a:solidFill>
              </a:rPr>
              <a:t> C++ </a:t>
            </a:r>
            <a:r>
              <a:rPr dirty="0" err="1">
                <a:solidFill>
                  <a:schemeClr val="bg1"/>
                </a:solidFill>
              </a:rPr>
              <a:t>ugrađeni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kod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383280" cy="1828800"/>
          </a:xfrm>
          <a:prstGeom prst="roundRect">
            <a:avLst/>
          </a:prstGeom>
          <a:solidFill>
            <a:srgbClr val="1B2336"/>
          </a:solidFill>
          <a:ln>
            <a:solidFill>
              <a:srgbClr val="1B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EC4899"/>
                </a:solidFill>
              </a:defRPr>
            </a:pPr>
            <a:r>
              <a:rPr dirty="0" err="1"/>
              <a:t>LittleFS</a:t>
            </a:r>
            <a:endParaRPr dirty="0"/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Lokalna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pohrana</a:t>
            </a:r>
            <a:r>
              <a:rPr dirty="0">
                <a:solidFill>
                  <a:schemeClr val="bg1"/>
                </a:solidFill>
              </a:rPr>
              <a:t> web </a:t>
            </a:r>
            <a:r>
              <a:rPr dirty="0" err="1">
                <a:solidFill>
                  <a:schemeClr val="bg1"/>
                </a:solidFill>
              </a:rPr>
              <a:t>resursa</a:t>
            </a:r>
            <a:r>
              <a:rPr dirty="0">
                <a:solidFill>
                  <a:schemeClr val="bg1"/>
                </a:solidFill>
              </a:rPr>
              <a:t> u flash </a:t>
            </a:r>
            <a:r>
              <a:rPr dirty="0" err="1">
                <a:solidFill>
                  <a:schemeClr val="bg1"/>
                </a:solidFill>
              </a:rPr>
              <a:t>memoriji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čipa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1828800"/>
          </a:xfrm>
          <a:prstGeom prst="roundRect">
            <a:avLst/>
          </a:prstGeom>
          <a:solidFill>
            <a:srgbClr val="1B2336"/>
          </a:solidFill>
          <a:ln>
            <a:solidFill>
              <a:srgbClr val="1B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EC4899"/>
                </a:solidFill>
              </a:defRPr>
            </a:pPr>
            <a:r>
              <a:rPr dirty="0" err="1"/>
              <a:t>WebSockets</a:t>
            </a:r>
            <a:endParaRPr dirty="0"/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Protokol</a:t>
            </a:r>
            <a:r>
              <a:rPr dirty="0">
                <a:solidFill>
                  <a:schemeClr val="bg1"/>
                </a:solidFill>
              </a:rPr>
              <a:t> za </a:t>
            </a:r>
            <a:r>
              <a:rPr dirty="0" err="1">
                <a:solidFill>
                  <a:schemeClr val="bg1"/>
                </a:solidFill>
              </a:rPr>
              <a:t>dvosmjerni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prijenos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podataka</a:t>
            </a:r>
            <a:r>
              <a:rPr dirty="0">
                <a:solidFill>
                  <a:schemeClr val="bg1"/>
                </a:solidFill>
              </a:rPr>
              <a:t> bez </a:t>
            </a:r>
            <a:r>
              <a:rPr dirty="0" err="1">
                <a:solidFill>
                  <a:schemeClr val="bg1"/>
                </a:solidFill>
              </a:rPr>
              <a:t>latencije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383280" cy="1828800"/>
          </a:xfrm>
          <a:prstGeom prst="roundRect">
            <a:avLst/>
          </a:prstGeom>
          <a:solidFill>
            <a:srgbClr val="1B2336"/>
          </a:solidFill>
          <a:ln>
            <a:solidFill>
              <a:srgbClr val="1B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EC4899"/>
                </a:solidFill>
              </a:defRPr>
            </a:pPr>
            <a:r>
              <a:rPr dirty="0" err="1"/>
              <a:t>ArduinoJson</a:t>
            </a:r>
            <a:endParaRPr dirty="0"/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Strukturirano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pakiranje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dekodiranje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statusnih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parametara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383280" cy="1828800"/>
          </a:xfrm>
          <a:prstGeom prst="roundRect">
            <a:avLst/>
          </a:prstGeom>
          <a:solidFill>
            <a:srgbClr val="1B2336"/>
          </a:solidFill>
          <a:ln>
            <a:solidFill>
              <a:srgbClr val="1B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EC4899"/>
                </a:solidFill>
              </a:defRPr>
            </a:pPr>
            <a:r>
              <a:rPr dirty="0"/>
              <a:t>HTML5 / CSS3 / JS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Responzivno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sučelje</a:t>
            </a:r>
            <a:r>
              <a:rPr dirty="0">
                <a:solidFill>
                  <a:schemeClr val="bg1"/>
                </a:solidFill>
              </a:rPr>
              <a:t> u </a:t>
            </a:r>
            <a:r>
              <a:rPr dirty="0" err="1">
                <a:solidFill>
                  <a:schemeClr val="bg1"/>
                </a:solidFill>
              </a:rPr>
              <a:t>potpunosti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pogonjeno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klijentskim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kodom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14800"/>
            <a:ext cx="3383280" cy="1828800"/>
          </a:xfrm>
          <a:prstGeom prst="roundRect">
            <a:avLst/>
          </a:prstGeom>
          <a:solidFill>
            <a:srgbClr val="1B2336"/>
          </a:solidFill>
          <a:ln>
            <a:solidFill>
              <a:srgbClr val="1B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EC4899"/>
                </a:solidFill>
              </a:defRPr>
            </a:pPr>
            <a:r>
              <a:rPr dirty="0"/>
              <a:t>Driver </a:t>
            </a:r>
            <a:r>
              <a:rPr dirty="0" err="1"/>
              <a:t>biblioteke</a:t>
            </a:r>
            <a:endParaRPr dirty="0"/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Precizna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kontrola</a:t>
            </a:r>
            <a:r>
              <a:rPr dirty="0">
                <a:solidFill>
                  <a:schemeClr val="bg1"/>
                </a:solidFill>
              </a:rPr>
              <a:t> DHT </a:t>
            </a:r>
            <a:r>
              <a:rPr dirty="0" err="1">
                <a:solidFill>
                  <a:schemeClr val="bg1"/>
                </a:solidFill>
              </a:rPr>
              <a:t>senzora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vremenskih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impulsa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motora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EC4899"/>
                </a:solidFill>
                <a:latin typeface="Arial"/>
              </a:defRPr>
            </a:pPr>
            <a:r>
              <a:t>Prednosti i potencijalni razvoj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C4899"/>
                          </a:solidFill>
                        </a:defRPr>
                      </a:pPr>
                      <a:r>
                        <a:t>Ključne prednosti sustava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C4899"/>
                          </a:solidFill>
                        </a:defRPr>
                      </a:pPr>
                      <a:r>
                        <a:t>Mogućnosti budućeg razvoja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AFA"/>
                          </a:solidFill>
                        </a:defRPr>
                      </a:pPr>
                      <a:r>
                        <a:t>• Potpuna neovisnost o vanjskom internetu i cloud poslužiteljima (100% lokalni rad).</a:t>
                      </a:r>
                    </a:p>
                  </a:txBody>
                  <a:tcPr>
                    <a:solidFill>
                      <a:srgbClr val="1116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AFA"/>
                          </a:solidFill>
                        </a:defRPr>
                      </a:pPr>
                      <a:r>
                        <a:t>• Integracija MQTT protokola za jednostavno povezivanje s Home Assistant sustavima.</a:t>
                      </a:r>
                    </a:p>
                  </a:txBody>
                  <a:tcPr>
                    <a:solidFill>
                      <a:srgbClr val="1116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AFA"/>
                          </a:solidFill>
                        </a:defRPr>
                      </a:pPr>
                      <a:r>
                        <a:t>• Izrazito niska cijena izrade uz korištenje lako dostupnih standardnih komponenti.</a:t>
                      </a:r>
                    </a:p>
                  </a:txBody>
                  <a:tcPr>
                    <a:solidFill>
                      <a:srgbClr val="1116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AFA"/>
                          </a:solidFill>
                        </a:defRPr>
                      </a:pPr>
                      <a:r>
                        <a:t>• Razvoj nativne mobilne aplikacije ili ugradnja GPS modula za automatsko određivanje lokacije.</a:t>
                      </a:r>
                    </a:p>
                  </a:txBody>
                  <a:tcPr>
                    <a:solidFill>
                      <a:srgbClr val="1116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AFA"/>
                          </a:solidFill>
                        </a:defRPr>
                      </a:pPr>
                      <a:r>
                        <a:t>• Modularan i otvoren kod prikladan za brze modifikacije i prilagodbe specifičnim antenama.</a:t>
                      </a:r>
                    </a:p>
                  </a:txBody>
                  <a:tcPr>
                    <a:solidFill>
                      <a:srgbClr val="1116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AFA"/>
                          </a:solidFill>
                        </a:defRPr>
                      </a:pPr>
                      <a:r>
                        <a:t>• Automatski tracking: Povezivanje s softverom za praćenje prolaza satelita (CAT integracija).</a:t>
                      </a:r>
                    </a:p>
                  </a:txBody>
                  <a:tcPr>
                    <a:solidFill>
                      <a:srgbClr val="1116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3600" b="1">
                <a:solidFill>
                  <a:srgbClr val="EC4899"/>
                </a:solidFill>
                <a:latin typeface="Arial"/>
              </a:defRPr>
            </a:pPr>
            <a:r>
              <a:rPr dirty="0"/>
              <a:t>ZAKLJUČAK</a:t>
            </a:r>
          </a:p>
          <a:p>
            <a:pPr algn="ctr">
              <a:spcAft>
                <a:spcPts val="2000"/>
              </a:spcAft>
              <a:defRPr sz="1600">
                <a:solidFill>
                  <a:srgbClr val="FAFAFA"/>
                </a:solidFill>
              </a:defRPr>
            </a:pPr>
            <a:r>
              <a:rPr b="1" dirty="0" err="1"/>
              <a:t>Uspješan</a:t>
            </a:r>
            <a:r>
              <a:rPr b="1" dirty="0"/>
              <a:t> </a:t>
            </a:r>
            <a:r>
              <a:rPr b="1" dirty="0" err="1"/>
              <a:t>spoj</a:t>
            </a:r>
            <a:r>
              <a:rPr b="1" dirty="0"/>
              <a:t> </a:t>
            </a:r>
            <a:r>
              <a:rPr b="1" dirty="0" err="1"/>
              <a:t>tehnologija</a:t>
            </a:r>
            <a:r>
              <a:rPr dirty="0"/>
              <a:t>: Projekt </a:t>
            </a:r>
            <a:r>
              <a:rPr dirty="0" err="1"/>
              <a:t>demonstrira</a:t>
            </a:r>
            <a:r>
              <a:rPr dirty="0"/>
              <a:t> </a:t>
            </a:r>
            <a:r>
              <a:rPr dirty="0" err="1"/>
              <a:t>kako</a:t>
            </a:r>
            <a:r>
              <a:rPr dirty="0"/>
              <a:t> se </a:t>
            </a:r>
            <a:r>
              <a:rPr dirty="0" err="1"/>
              <a:t>moderni</a:t>
            </a:r>
            <a:r>
              <a:rPr dirty="0"/>
              <a:t> web </a:t>
            </a:r>
            <a:r>
              <a:rPr dirty="0" err="1"/>
              <a:t>standardi</a:t>
            </a:r>
            <a:r>
              <a:rPr dirty="0"/>
              <a:t> (HTML5, </a:t>
            </a:r>
            <a:r>
              <a:rPr dirty="0" err="1"/>
              <a:t>WebSockets</a:t>
            </a:r>
            <a:r>
              <a:rPr dirty="0"/>
              <a:t>, JSON) </a:t>
            </a:r>
            <a:r>
              <a:rPr dirty="0" err="1"/>
              <a:t>mogu</a:t>
            </a:r>
            <a:r>
              <a:rPr dirty="0"/>
              <a:t> </a:t>
            </a:r>
            <a:r>
              <a:rPr dirty="0" err="1"/>
              <a:t>učinkovito</a:t>
            </a:r>
            <a:r>
              <a:rPr dirty="0"/>
              <a:t> </a:t>
            </a:r>
            <a:r>
              <a:rPr dirty="0" err="1"/>
              <a:t>integrirati</a:t>
            </a:r>
            <a:r>
              <a:rPr dirty="0"/>
              <a:t> </a:t>
            </a:r>
            <a:r>
              <a:rPr dirty="0" err="1"/>
              <a:t>izravno</a:t>
            </a:r>
            <a:r>
              <a:rPr dirty="0"/>
              <a:t> </a:t>
            </a:r>
            <a:r>
              <a:rPr dirty="0" err="1"/>
              <a:t>unutar</a:t>
            </a:r>
            <a:r>
              <a:rPr dirty="0"/>
              <a:t> </a:t>
            </a:r>
            <a:r>
              <a:rPr dirty="0" err="1"/>
              <a:t>resursno</a:t>
            </a:r>
            <a:r>
              <a:rPr dirty="0"/>
              <a:t> </a:t>
            </a:r>
            <a:r>
              <a:rPr dirty="0" err="1"/>
              <a:t>ograničenih</a:t>
            </a:r>
            <a:r>
              <a:rPr dirty="0"/>
              <a:t> embedded </a:t>
            </a:r>
            <a:r>
              <a:rPr dirty="0" err="1"/>
              <a:t>mikrokontrolera</a:t>
            </a:r>
            <a:r>
              <a:rPr dirty="0"/>
              <a:t>.</a:t>
            </a:r>
          </a:p>
          <a:p>
            <a:pPr algn="ctr">
              <a:spcAft>
                <a:spcPts val="2000"/>
              </a:spcAft>
              <a:defRPr sz="1600">
                <a:solidFill>
                  <a:srgbClr val="FAFAFA"/>
                </a:solidFill>
              </a:defRPr>
            </a:pPr>
            <a:r>
              <a:rPr b="1" dirty="0" err="1"/>
              <a:t>Praktična</a:t>
            </a:r>
            <a:r>
              <a:rPr b="1" dirty="0"/>
              <a:t> </a:t>
            </a:r>
            <a:r>
              <a:rPr b="1" dirty="0" err="1"/>
              <a:t>vrijednost</a:t>
            </a:r>
            <a:r>
              <a:rPr dirty="0"/>
              <a:t>: </a:t>
            </a:r>
            <a:r>
              <a:rPr dirty="0" err="1"/>
              <a:t>Omogućeno</a:t>
            </a:r>
            <a:r>
              <a:rPr dirty="0"/>
              <a:t> je </a:t>
            </a:r>
            <a:r>
              <a:rPr dirty="0" err="1"/>
              <a:t>sigurno</a:t>
            </a:r>
            <a:r>
              <a:rPr dirty="0"/>
              <a:t>, </a:t>
            </a:r>
            <a:r>
              <a:rPr dirty="0" err="1"/>
              <a:t>precizno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potpuno</a:t>
            </a:r>
            <a:r>
              <a:rPr dirty="0"/>
              <a:t> </a:t>
            </a:r>
            <a:r>
              <a:rPr dirty="0" err="1"/>
              <a:t>automatizirano</a:t>
            </a:r>
            <a:r>
              <a:rPr dirty="0"/>
              <a:t> </a:t>
            </a:r>
            <a:r>
              <a:rPr dirty="0" err="1"/>
              <a:t>upravljanje</a:t>
            </a:r>
            <a:r>
              <a:rPr dirty="0"/>
              <a:t> </a:t>
            </a:r>
            <a:r>
              <a:rPr dirty="0" err="1"/>
              <a:t>antenskim</a:t>
            </a:r>
            <a:r>
              <a:rPr dirty="0"/>
              <a:t> </a:t>
            </a:r>
            <a:r>
              <a:rPr dirty="0" err="1"/>
              <a:t>sustavima</a:t>
            </a:r>
            <a:r>
              <a:rPr dirty="0"/>
              <a:t> </a:t>
            </a:r>
            <a:r>
              <a:rPr dirty="0" err="1"/>
              <a:t>iz</a:t>
            </a:r>
            <a:r>
              <a:rPr dirty="0"/>
              <a:t> </a:t>
            </a:r>
            <a:r>
              <a:rPr dirty="0" err="1"/>
              <a:t>udobnosti</a:t>
            </a:r>
            <a:r>
              <a:rPr dirty="0"/>
              <a:t> radio-</a:t>
            </a:r>
            <a:r>
              <a:rPr dirty="0" err="1"/>
              <a:t>shacka</a:t>
            </a:r>
            <a:r>
              <a:rPr dirty="0"/>
              <a:t>, </a:t>
            </a:r>
            <a:r>
              <a:rPr dirty="0" err="1"/>
              <a:t>eliminirajući</a:t>
            </a:r>
            <a:r>
              <a:rPr dirty="0"/>
              <a:t> </a:t>
            </a:r>
            <a:r>
              <a:rPr dirty="0" err="1"/>
              <a:t>potrebu</a:t>
            </a:r>
            <a:r>
              <a:rPr dirty="0"/>
              <a:t> za </a:t>
            </a:r>
            <a:r>
              <a:rPr dirty="0" err="1"/>
              <a:t>skupom</a:t>
            </a:r>
            <a:r>
              <a:rPr dirty="0"/>
              <a:t> </a:t>
            </a:r>
            <a:r>
              <a:rPr dirty="0" err="1"/>
              <a:t>komercijalnom</a:t>
            </a:r>
            <a:r>
              <a:rPr dirty="0"/>
              <a:t> </a:t>
            </a:r>
            <a:r>
              <a:rPr dirty="0" err="1"/>
              <a:t>opremom</a:t>
            </a:r>
            <a:r>
              <a:rPr dirty="0"/>
              <a:t>.</a:t>
            </a:r>
          </a:p>
          <a:p>
            <a:pPr algn="ctr">
              <a:spcAft>
                <a:spcPts val="2000"/>
              </a:spcAft>
              <a:defRPr sz="1600">
                <a:solidFill>
                  <a:srgbClr val="FAFAFA"/>
                </a:solidFill>
              </a:defRPr>
            </a:pPr>
            <a:r>
              <a:rPr b="1" dirty="0" err="1"/>
              <a:t>Otvorenost</a:t>
            </a:r>
            <a:r>
              <a:rPr b="1" dirty="0"/>
              <a:t> za </a:t>
            </a:r>
            <a:r>
              <a:rPr b="1" dirty="0" err="1"/>
              <a:t>zajednicu</a:t>
            </a:r>
            <a:r>
              <a:rPr dirty="0"/>
              <a:t>: </a:t>
            </a:r>
            <a:r>
              <a:rPr dirty="0" err="1"/>
              <a:t>Čista</a:t>
            </a:r>
            <a:r>
              <a:rPr dirty="0"/>
              <a:t> </a:t>
            </a:r>
            <a:r>
              <a:rPr dirty="0" err="1"/>
              <a:t>arhitektura</a:t>
            </a:r>
            <a:r>
              <a:rPr dirty="0"/>
              <a:t> </a:t>
            </a:r>
            <a:r>
              <a:rPr dirty="0" err="1"/>
              <a:t>koda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korištenje</a:t>
            </a:r>
            <a:r>
              <a:rPr dirty="0"/>
              <a:t> </a:t>
            </a:r>
            <a:r>
              <a:rPr dirty="0" err="1"/>
              <a:t>LittleFS</a:t>
            </a:r>
            <a:r>
              <a:rPr dirty="0"/>
              <a:t> </a:t>
            </a:r>
            <a:r>
              <a:rPr dirty="0" err="1"/>
              <a:t>datotečnog</a:t>
            </a:r>
            <a:r>
              <a:rPr dirty="0"/>
              <a:t> </a:t>
            </a:r>
            <a:r>
              <a:rPr dirty="0" err="1"/>
              <a:t>sustava</a:t>
            </a:r>
            <a:r>
              <a:rPr dirty="0"/>
              <a:t> </a:t>
            </a:r>
            <a:r>
              <a:rPr dirty="0" err="1"/>
              <a:t>pružaju</a:t>
            </a:r>
            <a:r>
              <a:rPr dirty="0"/>
              <a:t> </a:t>
            </a:r>
            <a:r>
              <a:rPr dirty="0" err="1"/>
              <a:t>izvrsnu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stabilnu</a:t>
            </a:r>
            <a:r>
              <a:rPr dirty="0"/>
              <a:t> </a:t>
            </a:r>
            <a:r>
              <a:rPr dirty="0" err="1"/>
              <a:t>podlogu</a:t>
            </a:r>
            <a:r>
              <a:rPr dirty="0"/>
              <a:t> za </a:t>
            </a:r>
            <a:r>
              <a:rPr dirty="0" err="1"/>
              <a:t>daljnji</a:t>
            </a:r>
            <a:r>
              <a:rPr dirty="0"/>
              <a:t> </a:t>
            </a:r>
            <a:r>
              <a:rPr dirty="0" err="1"/>
              <a:t>razvoj</a:t>
            </a:r>
            <a:r>
              <a:rPr dirty="0"/>
              <a:t>, </a:t>
            </a:r>
            <a:r>
              <a:rPr dirty="0" err="1"/>
              <a:t>prilagodbe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napredne</a:t>
            </a:r>
            <a:r>
              <a:rPr dirty="0"/>
              <a:t> </a:t>
            </a:r>
            <a:r>
              <a:rPr dirty="0" err="1"/>
              <a:t>radioamaterske</a:t>
            </a:r>
            <a:r>
              <a:rPr dirty="0"/>
              <a:t> </a:t>
            </a:r>
            <a:r>
              <a:rPr dirty="0" err="1"/>
              <a:t>primjene</a:t>
            </a:r>
            <a:r>
              <a:rPr dirty="0"/>
              <a:t>.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Hvala </a:t>
            </a:r>
            <a:r>
              <a:rPr dirty="0" err="1">
                <a:solidFill>
                  <a:schemeClr val="bg1"/>
                </a:solidFill>
              </a:rPr>
              <a:t>na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pažnji</a:t>
            </a:r>
            <a:r>
              <a:rPr dirty="0">
                <a:solidFill>
                  <a:schemeClr val="bg1"/>
                </a:solidFill>
              </a:rPr>
              <a:t>!  •  github.com/MaNir007/ESP8266-SmartAntenna-Control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1178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Marin Šupljika</dc:creator>
  <cp:keywords/>
  <dc:description>generated using python-pptx</dc:description>
  <cp:lastModifiedBy>Marin Šupljika</cp:lastModifiedBy>
  <cp:revision>15</cp:revision>
  <dcterms:created xsi:type="dcterms:W3CDTF">2013-01-27T09:14:16Z</dcterms:created>
  <dcterms:modified xsi:type="dcterms:W3CDTF">2026-05-29T17:11:01Z</dcterms:modified>
  <cp:category/>
</cp:coreProperties>
</file>