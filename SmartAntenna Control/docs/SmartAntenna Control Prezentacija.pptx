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Outfit" panose="020B0604020202020204" charset="0"/>
      <p:regular r:id="rId14"/>
      <p:bold r:id="rId15"/>
    </p:embeddedFont>
    <p:embeddedFont>
      <p:font typeface="Outfit SemiBold" panose="020B0604020202020204" charset="0"/>
      <p:regular r:id="rId16"/>
      <p:bold r:id="rId17"/>
    </p:embeddedFont>
    <p:embeddedFont>
      <p:font typeface="Plus Jakarta Sans" panose="020B0604020202020204" charset="0"/>
      <p:regular r:id="rId18"/>
      <p:bold r:id="rId19"/>
      <p:italic r:id="rId20"/>
      <p:boldItalic r:id="rId21"/>
    </p:embeddedFont>
    <p:embeddedFont>
      <p:font typeface="Plus Jakarta Sans Medium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24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3.png"/><Relationship Id="rId5" Type="http://schemas.openxmlformats.org/officeDocument/2006/relationships/image" Target="../media/image28.png"/><Relationship Id="rId15" Type="http://schemas.openxmlformats.org/officeDocument/2006/relationships/image" Target="../media/image37.png"/><Relationship Id="rId10" Type="http://schemas.openxmlformats.org/officeDocument/2006/relationships/image" Target="../media/image2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2.png"/><Relationship Id="rId4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51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54.png"/><Relationship Id="rId5" Type="http://schemas.openxmlformats.org/officeDocument/2006/relationships/image" Target="../media/image49.png"/><Relationship Id="rId10" Type="http://schemas.openxmlformats.org/officeDocument/2006/relationships/image" Target="../media/image53.png"/><Relationship Id="rId4" Type="http://schemas.openxmlformats.org/officeDocument/2006/relationships/image" Target="../media/image48.png"/><Relationship Id="rId9" Type="http://schemas.openxmlformats.org/officeDocument/2006/relationships/image" Target="../media/image5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1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26.png"/><Relationship Id="rId5" Type="http://schemas.openxmlformats.org/officeDocument/2006/relationships/image" Target="../media/image57.png"/><Relationship Id="rId10" Type="http://schemas.openxmlformats.org/officeDocument/2006/relationships/image" Target="../media/image17.png"/><Relationship Id="rId4" Type="http://schemas.openxmlformats.org/officeDocument/2006/relationships/image" Target="../media/image56.png"/><Relationship Id="rId9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69.png"/><Relationship Id="rId3" Type="http://schemas.openxmlformats.org/officeDocument/2006/relationships/image" Target="../media/image1.png"/><Relationship Id="rId7" Type="http://schemas.openxmlformats.org/officeDocument/2006/relationships/image" Target="../media/image64.png"/><Relationship Id="rId12" Type="http://schemas.openxmlformats.org/officeDocument/2006/relationships/image" Target="../media/image68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11" Type="http://schemas.openxmlformats.org/officeDocument/2006/relationships/image" Target="../media/image67.png"/><Relationship Id="rId5" Type="http://schemas.openxmlformats.org/officeDocument/2006/relationships/image" Target="../media/image62.png"/><Relationship Id="rId15" Type="http://schemas.openxmlformats.org/officeDocument/2006/relationships/image" Target="../media/image71.png"/><Relationship Id="rId10" Type="http://schemas.openxmlformats.org/officeDocument/2006/relationships/image" Target="../media/image66.png"/><Relationship Id="rId4" Type="http://schemas.openxmlformats.org/officeDocument/2006/relationships/image" Target="../media/image61.png"/><Relationship Id="rId9" Type="http://schemas.openxmlformats.org/officeDocument/2006/relationships/image" Target="../media/image2.png"/><Relationship Id="rId14" Type="http://schemas.openxmlformats.org/officeDocument/2006/relationships/image" Target="../media/image7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26.png"/><Relationship Id="rId5" Type="http://schemas.openxmlformats.org/officeDocument/2006/relationships/image" Target="../media/image74.png"/><Relationship Id="rId10" Type="http://schemas.openxmlformats.org/officeDocument/2006/relationships/image" Target="../media/image17.png"/><Relationship Id="rId4" Type="http://schemas.openxmlformats.org/officeDocument/2006/relationships/image" Target="../media/image73.png"/><Relationship Id="rId9" Type="http://schemas.openxmlformats.org/officeDocument/2006/relationships/image" Target="../media/image7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1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6105525"/>
            <a:ext cx="11049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6229350"/>
            <a:ext cx="14097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Autor: Marin Šupljika 4.c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410701" y="6229350"/>
            <a:ext cx="2209800" cy="15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 err="1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Tehnička</a:t>
            </a:r>
            <a:r>
              <a:rPr lang="en-US" sz="975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hr-HR" sz="975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š</a:t>
            </a:r>
            <a:r>
              <a:rPr lang="en-US" sz="975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kola</a:t>
            </a:r>
            <a:r>
              <a:rPr lang="hr-HR" sz="975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Ruđera Boškovića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1990486" y="2313682"/>
            <a:ext cx="8211026" cy="700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SmartAntenna Control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185987" y="3167062"/>
            <a:ext cx="782002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Sustav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za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bežično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upravljanje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antenskim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sustavima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radioamatera</a:t>
            </a:r>
            <a:endParaRPr dirty="0"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43324" y="3939480"/>
            <a:ext cx="942975" cy="27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91100" y="3929955"/>
            <a:ext cx="8763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6000" y="3929955"/>
            <a:ext cx="1095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419975" y="3929955"/>
            <a:ext cx="9810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796664" y="4001393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009197" y="4001393"/>
            <a:ext cx="1428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163627" y="4001393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452836" y="4001393"/>
            <a:ext cx="152400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49733" y="-119063"/>
            <a:ext cx="12591288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7106" y="2652712"/>
            <a:ext cx="544068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45911" y="2652712"/>
            <a:ext cx="539115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6105525"/>
            <a:ext cx="110490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795337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582549" y="1495425"/>
            <a:ext cx="11049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Usmjerene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antene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(Yagi)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zahtijevaju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izuzetno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precizno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pozicioniranje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.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Ručni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rad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na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terenu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je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spor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,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neprecizan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i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iznimno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otežan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u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noćnim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ili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nepovoljnim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vremenskim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uvjetima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.</a:t>
            </a:r>
            <a:endParaRPr dirty="0"/>
          </a:p>
        </p:txBody>
      </p:sp>
      <p:sp>
        <p:nvSpPr>
          <p:cNvPr id="109" name="Google Shape;109;p14"/>
          <p:cNvSpPr txBox="1"/>
          <p:nvPr/>
        </p:nvSpPr>
        <p:spPr>
          <a:xfrm>
            <a:off x="582549" y="6243637"/>
            <a:ext cx="1824228" cy="15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 err="1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SmartAntenna</a:t>
            </a:r>
            <a:r>
              <a:rPr lang="en-US" sz="975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Control</a:t>
            </a:r>
            <a:endParaRPr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11058525" y="6229350"/>
            <a:ext cx="5619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Stranica 2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726186" y="2919412"/>
            <a:ext cx="516064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4444"/>
                </a:solidFill>
                <a:latin typeface="Outfit"/>
                <a:ea typeface="Outfit"/>
                <a:cs typeface="Outfit"/>
                <a:sym typeface="Outfit"/>
              </a:rPr>
              <a:t>Klasični Pristup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384036" y="2919412"/>
            <a:ext cx="516064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SmartAntenna Rješenje</a:t>
            </a:r>
            <a:endParaRPr/>
          </a:p>
        </p:txBody>
      </p:sp>
      <p:pic>
        <p:nvPicPr>
          <p:cNvPr id="113" name="Google Shape;11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3316" y="293846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992886" y="3290887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Fizički izlazak na poziciju u nepovoljnim vanjskim uvjetima.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992885" y="3633786"/>
            <a:ext cx="501015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Gruba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procjena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smjera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kuta bez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povratne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hr-HR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informacije</a:t>
            </a:r>
            <a:r>
              <a:rPr lang="hr-HR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 stvarnom vremenu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116" name="Google Shape;116;p14"/>
          <p:cNvSpPr txBox="1"/>
          <p:nvPr/>
        </p:nvSpPr>
        <p:spPr>
          <a:xfrm>
            <a:off x="992885" y="4138611"/>
            <a:ext cx="4648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Ručno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prebacivanje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koaksijalnih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sklopki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za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promjenu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aktivne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antene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pic>
        <p:nvPicPr>
          <p:cNvPr id="117" name="Google Shape;117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5448" y="294798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/>
          <p:nvPr/>
        </p:nvSpPr>
        <p:spPr>
          <a:xfrm>
            <a:off x="6650736" y="3290887"/>
            <a:ext cx="4648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Potpuno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daljinsko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upravljanje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preko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WiFi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mreže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119" name="Google Shape;119;p14"/>
          <p:cNvSpPr txBox="1"/>
          <p:nvPr/>
        </p:nvSpPr>
        <p:spPr>
          <a:xfrm>
            <a:off x="6650736" y="3633787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Precizno pozicioniranje, praćenje kuta i kalibracija u hodu.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6650736" y="3976687"/>
            <a:ext cx="4648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Relejno prebacivanje antena (Yagi / GP) jednim klikom na webu.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1038225" y="758309"/>
            <a:ext cx="11049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tx1"/>
                </a:solidFill>
                <a:latin typeface="Outfit SemiBold" panose="020B0604020202020204" charset="0"/>
                <a:ea typeface="Plus Jakarta Sans SemiBold"/>
                <a:cs typeface="Plus Jakarta Sans SemiBold"/>
                <a:sym typeface="Plus Jakarta Sans SemiBold"/>
              </a:rPr>
              <a:t>KONCEPT PROJEKTA PROBLEM </a:t>
            </a:r>
            <a:r>
              <a:rPr lang="hr-HR" sz="2400" dirty="0">
                <a:solidFill>
                  <a:schemeClr val="tx1"/>
                </a:solidFill>
                <a:latin typeface="Outfit SemiBold" panose="020B0604020202020204" charset="0"/>
                <a:ea typeface="Plus Jakarta Sans SemiBold"/>
                <a:cs typeface="Plus Jakarta Sans SemiBold"/>
                <a:sym typeface="Plus Jakarta Sans SemiBold"/>
              </a:rPr>
              <a:t>I</a:t>
            </a:r>
            <a:r>
              <a:rPr lang="en-US" sz="2400" b="0" i="0" u="none" strike="noStrike" cap="none" dirty="0">
                <a:solidFill>
                  <a:schemeClr val="tx1"/>
                </a:solidFill>
                <a:latin typeface="Outfit SemiBold" panose="020B0604020202020204" charset="0"/>
                <a:ea typeface="Plus Jakarta Sans SemiBold"/>
                <a:cs typeface="Plus Jakarta Sans SemiBold"/>
                <a:sym typeface="Plus Jakarta Sans SemiBold"/>
              </a:rPr>
              <a:t> RJEŠENJE</a:t>
            </a:r>
            <a:endParaRPr lang="en-US" sz="2400" dirty="0">
              <a:solidFill>
                <a:schemeClr val="tx1"/>
              </a:solidFill>
              <a:latin typeface="Outfit SemiBold" panose="020B0604020202020204" charset="0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26186" y="3309937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26186" y="3652837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26184" y="4235231"/>
            <a:ext cx="123824" cy="142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384036" y="3309937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384036" y="3652837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384036" y="3995737"/>
            <a:ext cx="1238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25908"/>
            <a:ext cx="11370564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5782" y="2530733"/>
            <a:ext cx="599301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6105525"/>
            <a:ext cx="110490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795337"/>
            <a:ext cx="32861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/>
          <p:nvPr/>
        </p:nvSpPr>
        <p:spPr>
          <a:xfrm>
            <a:off x="571500" y="6305550"/>
            <a:ext cx="1732788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 err="1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SmartAntenna</a:t>
            </a:r>
            <a:r>
              <a:rPr lang="en-US" sz="975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Control</a:t>
            </a:r>
            <a:endParaRPr dirty="0"/>
          </a:p>
        </p:txBody>
      </p:sp>
      <p:sp>
        <p:nvSpPr>
          <p:cNvPr id="141" name="Google Shape;141;p15"/>
          <p:cNvSpPr txBox="1"/>
          <p:nvPr/>
        </p:nvSpPr>
        <p:spPr>
          <a:xfrm>
            <a:off x="11058525" y="6229350"/>
            <a:ext cx="5619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Stranica 3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775782" y="2178308"/>
            <a:ext cx="629266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284C7"/>
                </a:solidFill>
                <a:latin typeface="Outfit"/>
                <a:ea typeface="Outfit"/>
                <a:cs typeface="Outfit"/>
                <a:sym typeface="Outfit"/>
              </a:rPr>
              <a:t>Komunikacijski</a:t>
            </a:r>
            <a:r>
              <a:rPr lang="en-US" sz="1500" b="1" i="0" u="none" strike="noStrike" cap="none" dirty="0">
                <a:solidFill>
                  <a:srgbClr val="0284C7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1" i="0" u="none" strike="noStrike" cap="none" dirty="0" err="1">
                <a:solidFill>
                  <a:srgbClr val="0284C7"/>
                </a:solidFill>
                <a:latin typeface="Outfit"/>
                <a:ea typeface="Outfit"/>
                <a:cs typeface="Outfit"/>
                <a:sym typeface="Outfit"/>
              </a:rPr>
              <a:t>tok</a:t>
            </a:r>
            <a:r>
              <a:rPr lang="en-US" sz="1500" b="1" i="0" u="none" strike="noStrike" cap="none" dirty="0">
                <a:solidFill>
                  <a:srgbClr val="0284C7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1" i="0" u="none" strike="noStrike" cap="none" dirty="0" err="1">
                <a:solidFill>
                  <a:srgbClr val="0284C7"/>
                </a:solidFill>
                <a:latin typeface="Outfit"/>
                <a:ea typeface="Outfit"/>
                <a:cs typeface="Outfit"/>
                <a:sym typeface="Outfit"/>
              </a:rPr>
              <a:t>unutar</a:t>
            </a:r>
            <a:r>
              <a:rPr lang="en-US" sz="1500" b="1" i="0" u="none" strike="noStrike" cap="none" dirty="0">
                <a:solidFill>
                  <a:srgbClr val="0284C7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1" i="0" u="none" strike="noStrike" cap="none" dirty="0" err="1">
                <a:solidFill>
                  <a:srgbClr val="0284C7"/>
                </a:solidFill>
                <a:latin typeface="Outfit"/>
                <a:ea typeface="Outfit"/>
                <a:cs typeface="Outfit"/>
                <a:sym typeface="Outfit"/>
              </a:rPr>
              <a:t>lokalne</a:t>
            </a:r>
            <a:r>
              <a:rPr lang="en-US" sz="1500" b="1" i="0" u="none" strike="noStrike" cap="none" dirty="0">
                <a:solidFill>
                  <a:srgbClr val="0284C7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1" i="0" u="none" strike="noStrike" cap="none" dirty="0" err="1">
                <a:solidFill>
                  <a:srgbClr val="0284C7"/>
                </a:solidFill>
                <a:latin typeface="Outfit"/>
                <a:ea typeface="Outfit"/>
                <a:cs typeface="Outfit"/>
                <a:sym typeface="Outfit"/>
              </a:rPr>
              <a:t>mreže</a:t>
            </a:r>
            <a:r>
              <a:rPr lang="en-US" sz="1500" b="1" i="0" u="none" strike="noStrike" cap="none" dirty="0">
                <a:solidFill>
                  <a:srgbClr val="0284C7"/>
                </a:solidFill>
                <a:latin typeface="Outfit"/>
                <a:ea typeface="Outfit"/>
                <a:cs typeface="Outfit"/>
                <a:sym typeface="Outfit"/>
              </a:rPr>
              <a:t>:</a:t>
            </a:r>
            <a:endParaRPr dirty="0"/>
          </a:p>
        </p:txBody>
      </p:sp>
      <p:pic>
        <p:nvPicPr>
          <p:cNvPr id="146" name="Google Shape;14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761149" y="289744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44730" y="2897445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5"/>
          <p:cNvSpPr txBox="1"/>
          <p:nvPr/>
        </p:nvSpPr>
        <p:spPr>
          <a:xfrm>
            <a:off x="1166008" y="3794641"/>
            <a:ext cx="953247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Potpuna</a:t>
            </a:r>
            <a:r>
              <a:rPr lang="en-US" b="1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b="1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lokalna</a:t>
            </a:r>
            <a:r>
              <a:rPr lang="en-US" b="1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b="1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autonomija</a:t>
            </a:r>
            <a:r>
              <a:rPr lang="en-US" b="1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Cijeli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komunikacijski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lanac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radi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unutar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vlastite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WiFi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pristupne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točke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ili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kućne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mreže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149" name="Google Shape;149;p15"/>
          <p:cNvSpPr txBox="1"/>
          <p:nvPr/>
        </p:nvSpPr>
        <p:spPr>
          <a:xfrm>
            <a:off x="1166008" y="4457312"/>
            <a:ext cx="884667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Neovisnost</a:t>
            </a:r>
            <a:r>
              <a:rPr lang="en-US" b="1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 </a:t>
            </a:r>
            <a:r>
              <a:rPr lang="en-US" b="1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vanjskom</a:t>
            </a:r>
            <a:r>
              <a:rPr lang="en-US" b="1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b="1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internetu</a:t>
            </a:r>
            <a:r>
              <a:rPr lang="en-US" b="1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Eliminira</a:t>
            </a:r>
            <a:r>
              <a:rPr lang="hr-HR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kašnjenje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latenciju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cloud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poslužitelje</a:t>
            </a:r>
            <a:r>
              <a:rPr lang="en-US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pic>
        <p:nvPicPr>
          <p:cNvPr id="150" name="Google Shape;150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35996" y="2730758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/>
        </p:nvSpPr>
        <p:spPr>
          <a:xfrm>
            <a:off x="1259771" y="3111758"/>
            <a:ext cx="9334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Klijent (PC/Mob)</a:t>
            </a:r>
            <a:endParaRPr/>
          </a:p>
        </p:txBody>
      </p:sp>
      <p:pic>
        <p:nvPicPr>
          <p:cNvPr id="152" name="Google Shape;152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648164" y="2730758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5"/>
          <p:cNvSpPr txBox="1"/>
          <p:nvPr/>
        </p:nvSpPr>
        <p:spPr>
          <a:xfrm>
            <a:off x="3500527" y="3111758"/>
            <a:ext cx="6762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ESP8266 AP</a:t>
            </a:r>
            <a:endParaRPr/>
          </a:p>
        </p:txBody>
      </p:sp>
      <p:pic>
        <p:nvPicPr>
          <p:cNvPr id="154" name="Google Shape;154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731758" y="2730758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/>
          <p:cNvSpPr txBox="1"/>
          <p:nvPr/>
        </p:nvSpPr>
        <p:spPr>
          <a:xfrm>
            <a:off x="5484108" y="3111758"/>
            <a:ext cx="800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Releji &amp; Motori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1021556" y="729734"/>
            <a:ext cx="11049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tx1"/>
                </a:solidFill>
                <a:latin typeface="Outfit SemiBold" panose="020B0604020202020204" charset="0"/>
                <a:ea typeface="Plus Jakarta Sans SemiBold"/>
                <a:cs typeface="Plus Jakarta Sans SemiBold"/>
                <a:sym typeface="Plus Jakarta Sans SemiBold"/>
              </a:rPr>
              <a:t>ARHITEKTURA SUSTAVA HARDVER </a:t>
            </a:r>
            <a:r>
              <a:rPr lang="hr-HR" sz="2400" dirty="0">
                <a:solidFill>
                  <a:schemeClr val="tx1"/>
                </a:solidFill>
                <a:latin typeface="Outfit SemiBold" panose="020B0604020202020204" charset="0"/>
                <a:ea typeface="Plus Jakarta Sans SemiBold"/>
                <a:cs typeface="Plus Jakarta Sans SemiBold"/>
                <a:sym typeface="Plus Jakarta Sans SemiBold"/>
              </a:rPr>
              <a:t>I</a:t>
            </a:r>
            <a:r>
              <a:rPr lang="en-US" sz="2400" b="0" i="0" u="none" strike="noStrike" cap="none" dirty="0">
                <a:solidFill>
                  <a:schemeClr val="tx1"/>
                </a:solidFill>
                <a:latin typeface="Outfit SemiBold" panose="020B0604020202020204" charset="0"/>
                <a:ea typeface="Plus Jakarta Sans SemiBold"/>
                <a:cs typeface="Plus Jakarta Sans SemiBold"/>
                <a:sym typeface="Plus Jakarta Sans SemiBold"/>
              </a:rPr>
              <a:t> PROTOKOLI</a:t>
            </a:r>
            <a:endParaRPr sz="2400" dirty="0">
              <a:solidFill>
                <a:schemeClr val="tx1"/>
              </a:solidFill>
              <a:latin typeface="Outfit SemiBold" panose="020B0604020202020204" charset="0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99308" y="389407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99308" y="4598290"/>
            <a:ext cx="14287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05025"/>
            <a:ext cx="3555950" cy="15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105025"/>
            <a:ext cx="3555950" cy="15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105025"/>
            <a:ext cx="3556099" cy="15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886200"/>
            <a:ext cx="3555950" cy="160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17950" y="3886200"/>
            <a:ext cx="3555950" cy="160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64400" y="3886200"/>
            <a:ext cx="3556099" cy="160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6105525"/>
            <a:ext cx="110490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71500" y="795337"/>
            <a:ext cx="3000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6"/>
          <p:cNvSpPr txBox="1"/>
          <p:nvPr/>
        </p:nvSpPr>
        <p:spPr>
          <a:xfrm>
            <a:off x="571500" y="6305550"/>
            <a:ext cx="1888236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 err="1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SmartAntenna</a:t>
            </a:r>
            <a:r>
              <a:rPr lang="en-US" sz="975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Control</a:t>
            </a:r>
            <a:endParaRPr dirty="0"/>
          </a:p>
        </p:txBody>
      </p:sp>
      <p:sp>
        <p:nvSpPr>
          <p:cNvPr id="175" name="Google Shape;175;p16"/>
          <p:cNvSpPr txBox="1"/>
          <p:nvPr/>
        </p:nvSpPr>
        <p:spPr>
          <a:xfrm>
            <a:off x="11058525" y="6229350"/>
            <a:ext cx="5619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Stranica 4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809625" y="2343150"/>
            <a:ext cx="323368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284C7"/>
                </a:solidFill>
                <a:latin typeface="Outfit"/>
                <a:ea typeface="Outfit"/>
                <a:cs typeface="Outfit"/>
                <a:sym typeface="Outfit"/>
              </a:rPr>
              <a:t>Firmware Core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809625" y="2657475"/>
            <a:ext cx="3233684" cy="796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Središnja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logika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pisana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 </a:t>
            </a:r>
            <a:r>
              <a:rPr lang="en-US" sz="1150" b="1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Arduino </a:t>
            </a:r>
            <a:r>
              <a:rPr lang="en-US" sz="1150" b="1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frameworku</a:t>
            </a:r>
            <a:r>
              <a:rPr lang="en-US" sz="1150" b="1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(.</a:t>
            </a:r>
            <a:r>
              <a:rPr lang="en-US" sz="1150" b="1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ino</a:t>
            </a:r>
            <a:r>
              <a:rPr lang="en-US" sz="1150" b="1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/ .</a:t>
            </a:r>
            <a:r>
              <a:rPr lang="en-US" sz="1150" b="1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cpp</a:t>
            </a:r>
            <a:r>
              <a:rPr lang="en-US" sz="1150" b="1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Upravlja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hardverskim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pinovima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mrežom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asinkronim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WebSocket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streamom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1150" dirty="0"/>
          </a:p>
        </p:txBody>
      </p:sp>
      <p:sp>
        <p:nvSpPr>
          <p:cNvPr id="178" name="Google Shape;178;p16"/>
          <p:cNvSpPr txBox="1"/>
          <p:nvPr/>
        </p:nvSpPr>
        <p:spPr>
          <a:xfrm>
            <a:off x="4556075" y="2343150"/>
            <a:ext cx="323368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EA5E9"/>
                </a:solidFill>
                <a:latin typeface="Outfit"/>
                <a:ea typeface="Outfit"/>
                <a:cs typeface="Outfit"/>
                <a:sym typeface="Outfit"/>
              </a:rPr>
              <a:t>data/ (LittleFS)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4471935" y="2594628"/>
            <a:ext cx="3317825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Mapirana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izolirana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particija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unutar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flash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memorije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ESP8266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čipa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Trajno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pohranjuje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frontend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datoteke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(HTML/CSS/JS) bez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potrebe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za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vanjskim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hostingom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1150" dirty="0"/>
          </a:p>
        </p:txBody>
      </p:sp>
      <p:sp>
        <p:nvSpPr>
          <p:cNvPr id="180" name="Google Shape;180;p16"/>
          <p:cNvSpPr txBox="1"/>
          <p:nvPr/>
        </p:nvSpPr>
        <p:spPr>
          <a:xfrm>
            <a:off x="8302525" y="2343150"/>
            <a:ext cx="323384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index &amp; logger.css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8192797" y="2594627"/>
            <a:ext cx="3079849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Razdvojeni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stilovi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index.css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postavlja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moderan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izgled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dashboarda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dok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logger.css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pruža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namjenski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izgled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za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praćenje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upisanih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veza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1150" dirty="0"/>
          </a:p>
        </p:txBody>
      </p:sp>
      <p:sp>
        <p:nvSpPr>
          <p:cNvPr id="182" name="Google Shape;182;p16"/>
          <p:cNvSpPr txBox="1"/>
          <p:nvPr/>
        </p:nvSpPr>
        <p:spPr>
          <a:xfrm>
            <a:off x="809625" y="4124325"/>
            <a:ext cx="323368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8B5CF6"/>
                </a:solidFill>
                <a:latin typeface="Outfit"/>
                <a:ea typeface="Outfit"/>
                <a:cs typeface="Outfit"/>
                <a:sym typeface="Outfit"/>
              </a:rPr>
              <a:t> JS &amp; Asinkroni AJAX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753903" y="4388748"/>
            <a:ext cx="3079700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Klijentska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logika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zadužena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za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dinamičko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osvježavanje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sučelja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realnom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vremenu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kut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kompasa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telemetrija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tablica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logova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putem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1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Fetch API-ja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1150" dirty="0"/>
          </a:p>
        </p:txBody>
      </p:sp>
      <p:sp>
        <p:nvSpPr>
          <p:cNvPr id="184" name="Google Shape;184;p16"/>
          <p:cNvSpPr txBox="1"/>
          <p:nvPr/>
        </p:nvSpPr>
        <p:spPr>
          <a:xfrm>
            <a:off x="4556075" y="4124325"/>
            <a:ext cx="323368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59E0B"/>
                </a:solidFill>
                <a:latin typeface="Outfit"/>
                <a:ea typeface="Outfit"/>
                <a:cs typeface="Outfit"/>
                <a:sym typeface="Outfit"/>
              </a:rPr>
              <a:t>REST API &amp; JSON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4492586" y="4332922"/>
            <a:ext cx="3079700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Standardizirani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kanal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za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razmjenu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podataka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Omogućuje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lagan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brz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prijenos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podataka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senzorima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QSO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kontaktima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strukturiranom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JSON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obliku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1150" dirty="0"/>
          </a:p>
        </p:txBody>
      </p:sp>
      <p:sp>
        <p:nvSpPr>
          <p:cNvPr id="186" name="Google Shape;186;p16"/>
          <p:cNvSpPr txBox="1"/>
          <p:nvPr/>
        </p:nvSpPr>
        <p:spPr>
          <a:xfrm>
            <a:off x="8302525" y="4124325"/>
            <a:ext cx="323384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C4899"/>
                </a:solidFill>
                <a:latin typeface="Outfit"/>
                <a:ea typeface="Outfit"/>
                <a:cs typeface="Outfit"/>
                <a:sym typeface="Outfit"/>
              </a:rPr>
              <a:t>DXCC Prefiksi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8192797" y="4352925"/>
            <a:ext cx="3317974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Lokalna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baza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podataka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prefixes.json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flashu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Omogućuje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trenutačno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izvanmrežno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(offline)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prepoznavanje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država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prikaz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zastava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temelju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unesenog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znaka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1150" dirty="0"/>
          </a:p>
        </p:txBody>
      </p:sp>
      <p:pic>
        <p:nvPicPr>
          <p:cNvPr id="188" name="Google Shape;188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47980" y="2371725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494430" y="2371725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240880" y="237172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6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47980" y="415290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6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494430" y="415290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6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199047" y="4162425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6"/>
          <p:cNvSpPr txBox="1"/>
          <p:nvPr/>
        </p:nvSpPr>
        <p:spPr>
          <a:xfrm>
            <a:off x="985837" y="742005"/>
            <a:ext cx="1116639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 dirty="0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STRUKTURA PROJEKTA</a:t>
            </a:r>
            <a:endParaRPr lang="en-US" dirty="0"/>
          </a:p>
        </p:txBody>
      </p:sp>
      <p:sp>
        <p:nvSpPr>
          <p:cNvPr id="196" name="Google Shape;196;p16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2336" y="1585913"/>
            <a:ext cx="5486400" cy="4148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105525"/>
            <a:ext cx="110490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795337"/>
            <a:ext cx="3000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7"/>
          <p:cNvSpPr txBox="1"/>
          <p:nvPr/>
        </p:nvSpPr>
        <p:spPr>
          <a:xfrm>
            <a:off x="571500" y="6229350"/>
            <a:ext cx="1796796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 err="1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SmartAntenna</a:t>
            </a:r>
            <a:r>
              <a:rPr lang="en-US" sz="975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Control</a:t>
            </a:r>
            <a:endParaRPr dirty="0"/>
          </a:p>
        </p:txBody>
      </p:sp>
      <p:sp>
        <p:nvSpPr>
          <p:cNvPr id="207" name="Google Shape;207;p17"/>
          <p:cNvSpPr txBox="1"/>
          <p:nvPr/>
        </p:nvSpPr>
        <p:spPr>
          <a:xfrm>
            <a:off x="11058525" y="6229350"/>
            <a:ext cx="5619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Stranica 5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686752" y="1766887"/>
            <a:ext cx="516064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284C7"/>
                </a:solidFill>
                <a:latin typeface="Outfit"/>
                <a:ea typeface="Outfit"/>
                <a:cs typeface="Outfit"/>
                <a:sym typeface="Outfit"/>
              </a:rPr>
              <a:t>1. </a:t>
            </a:r>
            <a:r>
              <a:rPr lang="en-US" sz="1350" b="1" i="0" u="none" strike="noStrike" cap="none" dirty="0" err="1">
                <a:solidFill>
                  <a:srgbClr val="0284C7"/>
                </a:solidFill>
                <a:latin typeface="Outfit"/>
                <a:ea typeface="Outfit"/>
                <a:cs typeface="Outfit"/>
                <a:sym typeface="Outfit"/>
              </a:rPr>
              <a:t>Odabir</a:t>
            </a:r>
            <a:r>
              <a:rPr lang="en-US" sz="1350" b="1" i="0" u="none" strike="noStrike" cap="none" dirty="0">
                <a:solidFill>
                  <a:srgbClr val="0284C7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350" b="1" i="0" u="none" strike="noStrike" cap="none" dirty="0" err="1">
                <a:solidFill>
                  <a:srgbClr val="0284C7"/>
                </a:solidFill>
                <a:latin typeface="Outfit"/>
                <a:ea typeface="Outfit"/>
                <a:cs typeface="Outfit"/>
                <a:sym typeface="Outfit"/>
              </a:rPr>
              <a:t>Antene</a:t>
            </a:r>
            <a:endParaRPr dirty="0"/>
          </a:p>
        </p:txBody>
      </p:sp>
      <p:sp>
        <p:nvSpPr>
          <p:cNvPr id="212" name="Google Shape;212;p17"/>
          <p:cNvSpPr txBox="1"/>
          <p:nvPr/>
        </p:nvSpPr>
        <p:spPr>
          <a:xfrm>
            <a:off x="686752" y="2040790"/>
            <a:ext cx="49149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Integrirana</a:t>
            </a:r>
            <a:r>
              <a:rPr lang="hr-HR" sz="1200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softverska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sklopka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sučelju</a:t>
            </a:r>
            <a:r>
              <a:rPr lang="hr-HR" sz="1200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mogućuje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brzo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prebacivanje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između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GP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Yagi rada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uz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trenutnu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vizualnu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potvrdu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stanja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1200" dirty="0"/>
          </a:p>
        </p:txBody>
      </p:sp>
      <p:sp>
        <p:nvSpPr>
          <p:cNvPr id="213" name="Google Shape;213;p17"/>
          <p:cNvSpPr txBox="1"/>
          <p:nvPr/>
        </p:nvSpPr>
        <p:spPr>
          <a:xfrm>
            <a:off x="686751" y="3140868"/>
            <a:ext cx="516064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2. </a:t>
            </a:r>
            <a:r>
              <a:rPr lang="en-US" sz="1350" b="1" i="0" u="none" strike="noStrike" cap="none" dirty="0" err="1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Kontrola</a:t>
            </a:r>
            <a:r>
              <a:rPr lang="en-US" sz="1350" b="1" i="0" u="none" strike="noStrike" cap="none" dirty="0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350" b="1" i="0" u="none" strike="noStrike" cap="none" dirty="0" err="1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Pozicioniranja</a:t>
            </a:r>
            <a:endParaRPr dirty="0"/>
          </a:p>
        </p:txBody>
      </p:sp>
      <p:sp>
        <p:nvSpPr>
          <p:cNvPr id="214" name="Google Shape;214;p17"/>
          <p:cNvSpPr txBox="1"/>
          <p:nvPr/>
        </p:nvSpPr>
        <p:spPr>
          <a:xfrm>
            <a:off x="686752" y="3520834"/>
            <a:ext cx="4914900" cy="796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Interaktivno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polje za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unos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željenog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kuta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azimuta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stupnjevima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Slanje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koordinata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jednim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klikom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vizualni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prikaz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kretanja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rotator/servo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sustava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1150" dirty="0"/>
          </a:p>
        </p:txBody>
      </p:sp>
      <p:sp>
        <p:nvSpPr>
          <p:cNvPr id="215" name="Google Shape;215;p17"/>
          <p:cNvSpPr txBox="1"/>
          <p:nvPr/>
        </p:nvSpPr>
        <p:spPr>
          <a:xfrm>
            <a:off x="686750" y="4526756"/>
            <a:ext cx="516064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F59E0B"/>
                </a:solidFill>
                <a:latin typeface="Outfit"/>
                <a:ea typeface="Outfit"/>
                <a:cs typeface="Outfit"/>
                <a:sym typeface="Outfit"/>
              </a:rPr>
              <a:t>3. </a:t>
            </a:r>
            <a:r>
              <a:rPr lang="en-US" sz="1350" b="1" i="0" u="none" strike="noStrike" cap="none" dirty="0" err="1">
                <a:solidFill>
                  <a:srgbClr val="F59E0B"/>
                </a:solidFill>
                <a:latin typeface="Outfit"/>
                <a:ea typeface="Outfit"/>
                <a:cs typeface="Outfit"/>
                <a:sym typeface="Outfit"/>
              </a:rPr>
              <a:t>Integrirani</a:t>
            </a:r>
            <a:r>
              <a:rPr lang="en-US" sz="1350" b="1" i="0" u="none" strike="noStrike" cap="none" dirty="0">
                <a:solidFill>
                  <a:srgbClr val="F59E0B"/>
                </a:solidFill>
                <a:latin typeface="Outfit"/>
                <a:ea typeface="Outfit"/>
                <a:cs typeface="Outfit"/>
                <a:sym typeface="Outfit"/>
              </a:rPr>
              <a:t> Logger</a:t>
            </a:r>
            <a:endParaRPr dirty="0"/>
          </a:p>
        </p:txBody>
      </p:sp>
      <p:sp>
        <p:nvSpPr>
          <p:cNvPr id="216" name="Google Shape;216;p17"/>
          <p:cNvSpPr txBox="1"/>
          <p:nvPr/>
        </p:nvSpPr>
        <p:spPr>
          <a:xfrm>
            <a:off x="686752" y="4777617"/>
            <a:ext cx="4914900" cy="796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Ugrađena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tekstualna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konzola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koja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uživo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ispisuje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status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mrežnih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konekcija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naredbi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Radi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asinkrono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kroz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JavaScript (bez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ponovnog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učitavanja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5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stranice</a:t>
            </a:r>
            <a:r>
              <a:rPr lang="en-US" sz="115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).</a:t>
            </a:r>
            <a:endParaRPr sz="1150" dirty="0"/>
          </a:p>
        </p:txBody>
      </p:sp>
      <p:sp>
        <p:nvSpPr>
          <p:cNvPr id="218" name="Google Shape;218;p17"/>
          <p:cNvSpPr txBox="1"/>
          <p:nvPr/>
        </p:nvSpPr>
        <p:spPr>
          <a:xfrm>
            <a:off x="985837" y="742005"/>
            <a:ext cx="1116639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 dirty="0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WEB APLIKACIJA I KORISNIČKO SUČELJE</a:t>
            </a:r>
            <a:endParaRPr lang="en-US" dirty="0"/>
          </a:p>
        </p:txBody>
      </p:sp>
      <p:sp>
        <p:nvSpPr>
          <p:cNvPr id="219" name="Google Shape;219;p17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EBAF53-8E0A-5624-9DB2-541F197FB7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1850" y="1390650"/>
            <a:ext cx="5605930" cy="4362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760" y="2338387"/>
            <a:ext cx="5596890" cy="3633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2202" y="2338387"/>
            <a:ext cx="5428298" cy="3633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57950" y="4248150"/>
            <a:ext cx="49339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6105525"/>
            <a:ext cx="110490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795337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8"/>
          <p:cNvSpPr txBox="1"/>
          <p:nvPr/>
        </p:nvSpPr>
        <p:spPr>
          <a:xfrm>
            <a:off x="571500" y="6246876"/>
            <a:ext cx="185166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 err="1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SmartAntenna</a:t>
            </a:r>
            <a:r>
              <a:rPr lang="en-US" sz="975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Control</a:t>
            </a:r>
            <a:endParaRPr dirty="0"/>
          </a:p>
        </p:txBody>
      </p:sp>
      <p:sp>
        <p:nvSpPr>
          <p:cNvPr id="231" name="Google Shape;231;p18"/>
          <p:cNvSpPr txBox="1"/>
          <p:nvPr/>
        </p:nvSpPr>
        <p:spPr>
          <a:xfrm>
            <a:off x="11058525" y="6229350"/>
            <a:ext cx="5619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Stranica 6</a:t>
            </a:r>
            <a:endParaRPr/>
          </a:p>
        </p:txBody>
      </p:sp>
      <p:sp>
        <p:nvSpPr>
          <p:cNvPr id="232" name="Google Shape;232;p18"/>
          <p:cNvSpPr txBox="1"/>
          <p:nvPr/>
        </p:nvSpPr>
        <p:spPr>
          <a:xfrm>
            <a:off x="809625" y="2576512"/>
            <a:ext cx="516064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Outfit"/>
                <a:ea typeface="Outfit"/>
                <a:cs typeface="Outfit"/>
                <a:sym typeface="Outfit"/>
              </a:rPr>
              <a:t>Upravljanje API zahtjevima</a:t>
            </a:r>
            <a:endParaRPr/>
          </a:p>
        </p:txBody>
      </p:sp>
      <p:sp>
        <p:nvSpPr>
          <p:cNvPr id="233" name="Google Shape;233;p18"/>
          <p:cNvSpPr txBox="1"/>
          <p:nvPr/>
        </p:nvSpPr>
        <p:spPr>
          <a:xfrm>
            <a:off x="809625" y="2947987"/>
            <a:ext cx="49149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Sustav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koristi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hr-HR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knjižnicu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ESP8266WebServer za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definiranje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mapiranje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REST API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endpointova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Razmjena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parametara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vrši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isključivo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asinkrono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strukturiranom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JSON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formatu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234" name="Google Shape;234;p18"/>
          <p:cNvSpPr txBox="1"/>
          <p:nvPr/>
        </p:nvSpPr>
        <p:spPr>
          <a:xfrm>
            <a:off x="809625" y="4149090"/>
            <a:ext cx="516064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Dvosmjerni</a:t>
            </a:r>
            <a:r>
              <a:rPr lang="en-US" sz="1500" b="1" i="0" u="none" strike="noStrike" cap="none" dirty="0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 WebSocket Stream</a:t>
            </a:r>
            <a:endParaRPr dirty="0"/>
          </a:p>
        </p:txBody>
      </p:sp>
      <p:sp>
        <p:nvSpPr>
          <p:cNvPr id="235" name="Google Shape;235;p18"/>
          <p:cNvSpPr txBox="1"/>
          <p:nvPr/>
        </p:nvSpPr>
        <p:spPr>
          <a:xfrm>
            <a:off x="833437" y="4557713"/>
            <a:ext cx="49149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razliku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od HTTP p</a:t>
            </a:r>
            <a:r>
              <a:rPr lang="hr-HR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rotokola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koji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opterećuje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mikro</a:t>
            </a:r>
            <a:r>
              <a:rPr lang="hr-HR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upravljač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WebSocket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veza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omogućava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ESP8266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čipu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trenutno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hr-HR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proslijedi 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(push)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podatke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pregledniku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čim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dogodi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promjena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stanja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ili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senzorskih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očitanja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niska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latencija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).</a:t>
            </a:r>
            <a:endParaRPr dirty="0"/>
          </a:p>
        </p:txBody>
      </p:sp>
      <p:sp>
        <p:nvSpPr>
          <p:cNvPr id="236" name="Google Shape;236;p18"/>
          <p:cNvSpPr txBox="1"/>
          <p:nvPr/>
        </p:nvSpPr>
        <p:spPr>
          <a:xfrm>
            <a:off x="6457950" y="2562225"/>
            <a:ext cx="518064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Glavne</a:t>
            </a:r>
            <a:r>
              <a:rPr lang="en-US" sz="1350" b="1" i="0" u="none" strike="noStrike" cap="none" dirty="0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350" b="1" i="0" u="none" strike="noStrike" cap="none" dirty="0" err="1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programske</a:t>
            </a:r>
            <a:r>
              <a:rPr lang="en-US" sz="1350" b="1" i="0" u="none" strike="noStrike" cap="none" dirty="0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350" b="1" i="0" u="none" strike="noStrike" cap="none" dirty="0" err="1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rute</a:t>
            </a:r>
            <a:r>
              <a:rPr lang="en-US" sz="1350" b="1" i="0" u="none" strike="noStrike" cap="none" dirty="0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350" b="1" i="0" u="none" strike="noStrike" cap="none" dirty="0" err="1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na</a:t>
            </a:r>
            <a:r>
              <a:rPr lang="en-US" sz="1350" b="1" i="0" u="none" strike="noStrike" cap="none" dirty="0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350" b="1" i="0" u="none" strike="noStrike" cap="none" dirty="0" err="1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čipu</a:t>
            </a:r>
            <a:r>
              <a:rPr lang="en-US" sz="1350" b="1" i="0" u="none" strike="noStrike" cap="none" dirty="0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:</a:t>
            </a:r>
            <a:endParaRPr dirty="0"/>
          </a:p>
        </p:txBody>
      </p:sp>
      <p:sp>
        <p:nvSpPr>
          <p:cNvPr id="237" name="Google Shape;237;p18"/>
          <p:cNvSpPr txBox="1"/>
          <p:nvPr/>
        </p:nvSpPr>
        <p:spPr>
          <a:xfrm>
            <a:off x="6364963" y="3005138"/>
            <a:ext cx="5026937" cy="649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rPr>
              <a:t>server.on</a:t>
            </a:r>
            <a:r>
              <a:rPr lang="en-US" sz="12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00" b="0" i="0" u="none" strike="noStrike" cap="none" dirty="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"/"</a:t>
            </a:r>
            <a:r>
              <a:rPr lang="en-US" sz="12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HTTP_GET, </a:t>
            </a:r>
            <a:r>
              <a:rPr lang="en-US" sz="12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handleRoot</a:t>
            </a:r>
            <a:r>
              <a:rPr lang="en-US" sz="12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b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 err="1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rPr>
              <a:t>server.on</a:t>
            </a:r>
            <a:r>
              <a:rPr lang="en-US" sz="12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00" b="0" i="0" u="none" strike="noStrike" cap="none" dirty="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"/</a:t>
            </a:r>
            <a:r>
              <a:rPr lang="en-US" sz="1200" b="0" i="0" u="none" strike="noStrike" cap="none" dirty="0" err="1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set_antenna</a:t>
            </a:r>
            <a:r>
              <a:rPr lang="en-US" sz="1200" b="0" i="0" u="none" strike="noStrike" cap="none" dirty="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2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HTTP_POST, </a:t>
            </a:r>
            <a:r>
              <a:rPr lang="en-US" sz="12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handleAntenna</a:t>
            </a:r>
            <a:r>
              <a:rPr lang="en-US" sz="12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b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 err="1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rPr>
              <a:t>server.on</a:t>
            </a:r>
            <a:r>
              <a:rPr lang="en-US" sz="12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00" b="0" i="0" u="none" strike="noStrike" cap="none" dirty="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"/</a:t>
            </a:r>
            <a:r>
              <a:rPr lang="en-US" sz="1200" b="0" i="0" u="none" strike="noStrike" cap="none" dirty="0" err="1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set_steps</a:t>
            </a:r>
            <a:r>
              <a:rPr lang="en-US" sz="1200" b="0" i="0" u="none" strike="noStrike" cap="none" dirty="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2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HTTP_POST, </a:t>
            </a:r>
            <a:r>
              <a:rPr lang="en-US" sz="12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handleSteps</a:t>
            </a:r>
            <a:r>
              <a:rPr lang="en-US" sz="12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b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 err="1">
                <a:solidFill>
                  <a:srgbClr val="F43F5E"/>
                </a:solidFill>
                <a:latin typeface="Courier New"/>
                <a:ea typeface="Courier New"/>
                <a:cs typeface="Courier New"/>
                <a:sym typeface="Courier New"/>
              </a:rPr>
              <a:t>server.on</a:t>
            </a:r>
            <a:r>
              <a:rPr lang="en-US" sz="12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00" b="0" i="0" u="none" strike="noStrike" cap="none" dirty="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"/</a:t>
            </a:r>
            <a:r>
              <a:rPr lang="en-US" sz="1200" b="0" i="0" u="none" strike="noStrike" cap="none" dirty="0" err="1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get_status</a:t>
            </a:r>
            <a:r>
              <a:rPr lang="en-US" sz="1200" b="0" i="0" u="none" strike="noStrike" cap="none" dirty="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2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, HTTP_GET, </a:t>
            </a:r>
            <a:r>
              <a:rPr lang="en-US" sz="1200" b="0" i="0" u="none" strike="noStrike" cap="none" dirty="0" err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handleGetStatus</a:t>
            </a:r>
            <a:r>
              <a:rPr lang="en-US" sz="1200" b="0" i="0" u="none" strike="noStrike" cap="none" dirty="0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 dirty="0"/>
          </a:p>
        </p:txBody>
      </p:sp>
      <p:pic>
        <p:nvPicPr>
          <p:cNvPr id="238" name="Google Shape;238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64963" y="2601151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8"/>
          <p:cNvSpPr txBox="1"/>
          <p:nvPr/>
        </p:nvSpPr>
        <p:spPr>
          <a:xfrm>
            <a:off x="6457950" y="4371975"/>
            <a:ext cx="4886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1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API osigurava iznimno brzu sinkronizaciju telemetrije i upisa u konzolu u svega nekoliko milisekundi.</a:t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947737" y="742005"/>
            <a:ext cx="1120640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 dirty="0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ESP8266 BACKEND I API KOMUNIKACIJA</a:t>
            </a:r>
            <a:endParaRPr lang="en-US" dirty="0"/>
          </a:p>
        </p:txBody>
      </p:sp>
      <p:sp>
        <p:nvSpPr>
          <p:cNvPr id="242" name="Google Shape;242;p18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3464" y="1895474"/>
            <a:ext cx="5749671" cy="394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" y="4348162"/>
            <a:ext cx="4914900" cy="8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0544" y="2977309"/>
            <a:ext cx="49149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0544" y="3692484"/>
            <a:ext cx="49149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6105525"/>
            <a:ext cx="110490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795337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9"/>
          <p:cNvSpPr txBox="1"/>
          <p:nvPr/>
        </p:nvSpPr>
        <p:spPr>
          <a:xfrm>
            <a:off x="571500" y="6305550"/>
            <a:ext cx="201625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 err="1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SmartAntenna</a:t>
            </a:r>
            <a:r>
              <a:rPr lang="en-US" sz="975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Control</a:t>
            </a:r>
            <a:endParaRPr dirty="0"/>
          </a:p>
        </p:txBody>
      </p:sp>
      <p:sp>
        <p:nvSpPr>
          <p:cNvPr id="256" name="Google Shape;256;p19"/>
          <p:cNvSpPr txBox="1"/>
          <p:nvPr/>
        </p:nvSpPr>
        <p:spPr>
          <a:xfrm>
            <a:off x="11068050" y="6229350"/>
            <a:ext cx="5524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Stranica 7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728656" y="2182359"/>
            <a:ext cx="516064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 err="1">
                <a:solidFill>
                  <a:srgbClr val="0284C7"/>
                </a:solidFill>
                <a:latin typeface="Outfit"/>
                <a:ea typeface="Outfit"/>
                <a:cs typeface="Outfit"/>
                <a:sym typeface="Outfit"/>
              </a:rPr>
              <a:t>Relejna</a:t>
            </a:r>
            <a:r>
              <a:rPr lang="en-US" sz="1425" b="1" i="0" u="none" strike="noStrike" cap="none" dirty="0">
                <a:solidFill>
                  <a:srgbClr val="0284C7"/>
                </a:solidFill>
                <a:latin typeface="Outfit"/>
                <a:ea typeface="Outfit"/>
                <a:cs typeface="Outfit"/>
                <a:sym typeface="Outfit"/>
              </a:rPr>
              <a:t> Logika </a:t>
            </a:r>
            <a:r>
              <a:rPr lang="en-US" sz="1425" b="1" i="0" u="none" strike="noStrike" cap="none" dirty="0" err="1">
                <a:solidFill>
                  <a:srgbClr val="0284C7"/>
                </a:solidFill>
                <a:latin typeface="Outfit"/>
                <a:ea typeface="Outfit"/>
                <a:cs typeface="Outfit"/>
                <a:sym typeface="Outfit"/>
              </a:rPr>
              <a:t>Prebacivanja</a:t>
            </a:r>
            <a:endParaRPr dirty="0"/>
          </a:p>
        </p:txBody>
      </p:sp>
      <p:sp>
        <p:nvSpPr>
          <p:cNvPr id="261" name="Google Shape;261;p19"/>
          <p:cNvSpPr txBox="1"/>
          <p:nvPr/>
        </p:nvSpPr>
        <p:spPr>
          <a:xfrm>
            <a:off x="590543" y="2509837"/>
            <a:ext cx="513398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Prebacivanje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hr-HR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relea</a:t>
            </a:r>
            <a:r>
              <a:rPr lang="hr-HR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izvedeno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je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preko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digitalnih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izlaza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mikro</a:t>
            </a:r>
            <a:r>
              <a:rPr lang="hr-HR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upravljača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</a:t>
            </a:r>
            <a:endParaRPr sz="1200" dirty="0"/>
          </a:p>
        </p:txBody>
      </p:sp>
      <p:sp>
        <p:nvSpPr>
          <p:cNvPr id="262" name="Google Shape;262;p19"/>
          <p:cNvSpPr txBox="1"/>
          <p:nvPr/>
        </p:nvSpPr>
        <p:spPr>
          <a:xfrm>
            <a:off x="728655" y="4471987"/>
            <a:ext cx="516064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 err="1">
                <a:solidFill>
                  <a:srgbClr val="0EA5E9"/>
                </a:solidFill>
                <a:latin typeface="Outfit"/>
                <a:ea typeface="Outfit"/>
                <a:cs typeface="Outfit"/>
                <a:sym typeface="Outfit"/>
              </a:rPr>
              <a:t>Upravljanje</a:t>
            </a:r>
            <a:r>
              <a:rPr lang="en-US" sz="1425" b="1" i="0" u="none" strike="noStrike" cap="none" dirty="0">
                <a:solidFill>
                  <a:srgbClr val="0EA5E9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425" b="1" i="0" u="none" strike="noStrike" cap="none" dirty="0" err="1">
                <a:solidFill>
                  <a:srgbClr val="0EA5E9"/>
                </a:solidFill>
                <a:latin typeface="Outfit"/>
                <a:ea typeface="Outfit"/>
                <a:cs typeface="Outfit"/>
                <a:sym typeface="Outfit"/>
              </a:rPr>
              <a:t>Koračnim</a:t>
            </a:r>
            <a:r>
              <a:rPr lang="en-US" sz="1425" b="1" i="0" u="none" strike="noStrike" cap="none" dirty="0">
                <a:solidFill>
                  <a:srgbClr val="0EA5E9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425" b="1" i="0" u="none" strike="noStrike" cap="none" dirty="0" err="1">
                <a:solidFill>
                  <a:srgbClr val="0EA5E9"/>
                </a:solidFill>
                <a:latin typeface="Outfit"/>
                <a:ea typeface="Outfit"/>
                <a:cs typeface="Outfit"/>
                <a:sym typeface="Outfit"/>
              </a:rPr>
              <a:t>Motorom</a:t>
            </a:r>
            <a:endParaRPr dirty="0"/>
          </a:p>
        </p:txBody>
      </p:sp>
      <p:sp>
        <p:nvSpPr>
          <p:cNvPr id="263" name="Google Shape;263;p19"/>
          <p:cNvSpPr txBox="1"/>
          <p:nvPr/>
        </p:nvSpPr>
        <p:spPr>
          <a:xfrm>
            <a:off x="809625" y="4776787"/>
            <a:ext cx="49149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Ruta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/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set_steps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prihvaća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ciljani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azimut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preračunava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ga u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točan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broj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mikorokoraka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osigurava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glatko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pokretanje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bez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mehaničkih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udara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stup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1200" dirty="0"/>
          </a:p>
        </p:txBody>
      </p:sp>
      <p:pic>
        <p:nvPicPr>
          <p:cNvPr id="264" name="Google Shape;264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28631" y="2181224"/>
            <a:ext cx="2000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0544" y="4495799"/>
            <a:ext cx="1809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9"/>
          <p:cNvSpPr txBox="1"/>
          <p:nvPr/>
        </p:nvSpPr>
        <p:spPr>
          <a:xfrm>
            <a:off x="947737" y="742005"/>
            <a:ext cx="1120640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 dirty="0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UPRAVLJANJE ANTENAMA I LOGIKA ROTATORA</a:t>
            </a:r>
            <a:endParaRPr lang="en-US" dirty="0"/>
          </a:p>
        </p:txBody>
      </p:sp>
      <p:sp>
        <p:nvSpPr>
          <p:cNvPr id="268" name="Google Shape;268;p19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BAC946-7022-F1FA-FEF7-7CAC369944A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0" y="1894903"/>
            <a:ext cx="5567369" cy="39433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6700" y="2586037"/>
            <a:ext cx="569595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29350" y="2586037"/>
            <a:ext cx="539115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6105525"/>
            <a:ext cx="110490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795337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0"/>
          <p:cNvSpPr txBox="1"/>
          <p:nvPr/>
        </p:nvSpPr>
        <p:spPr>
          <a:xfrm>
            <a:off x="571500" y="6229350"/>
            <a:ext cx="1714500" cy="15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 err="1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SmartAntenna</a:t>
            </a:r>
            <a:r>
              <a:rPr lang="en-US" sz="975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Control</a:t>
            </a:r>
            <a:endParaRPr dirty="0"/>
          </a:p>
        </p:txBody>
      </p:sp>
      <p:sp>
        <p:nvSpPr>
          <p:cNvPr id="279" name="Google Shape;279;p20"/>
          <p:cNvSpPr txBox="1"/>
          <p:nvPr/>
        </p:nvSpPr>
        <p:spPr>
          <a:xfrm>
            <a:off x="11058525" y="6229350"/>
            <a:ext cx="5619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Stranica 8</a:t>
            </a:r>
            <a:endParaRPr/>
          </a:p>
        </p:txBody>
      </p:sp>
      <p:sp>
        <p:nvSpPr>
          <p:cNvPr id="280" name="Google Shape;280;p20"/>
          <p:cNvSpPr txBox="1"/>
          <p:nvPr/>
        </p:nvSpPr>
        <p:spPr>
          <a:xfrm>
            <a:off x="590550" y="2815394"/>
            <a:ext cx="513064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Senzorski</a:t>
            </a:r>
            <a:r>
              <a:rPr lang="en-US" sz="1500" b="1" i="0" u="none" strike="noStrike" cap="none" dirty="0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500" b="1" i="0" u="none" strike="noStrike" cap="none" dirty="0" err="1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Podsustav</a:t>
            </a:r>
            <a:r>
              <a:rPr lang="en-US" sz="1500" b="1" i="0" u="none" strike="noStrike" cap="none" dirty="0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 (DHT22)</a:t>
            </a:r>
            <a:endParaRPr dirty="0"/>
          </a:p>
        </p:txBody>
      </p:sp>
      <p:sp>
        <p:nvSpPr>
          <p:cNvPr id="281" name="Google Shape;281;p20"/>
          <p:cNvSpPr txBox="1"/>
          <p:nvPr/>
        </p:nvSpPr>
        <p:spPr>
          <a:xfrm>
            <a:off x="6496050" y="2824162"/>
            <a:ext cx="513064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Outfit"/>
                <a:ea typeface="Outfit"/>
                <a:cs typeface="Outfit"/>
                <a:sym typeface="Outfit"/>
              </a:rPr>
              <a:t>Aktivno Sistemsko Logiranje</a:t>
            </a:r>
            <a:endParaRPr/>
          </a:p>
        </p:txBody>
      </p:sp>
      <p:pic>
        <p:nvPicPr>
          <p:cNvPr id="282" name="Google Shape;282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6725" y="2824920"/>
            <a:ext cx="1238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0"/>
          <p:cNvSpPr txBox="1"/>
          <p:nvPr/>
        </p:nvSpPr>
        <p:spPr>
          <a:xfrm>
            <a:off x="733425" y="3148770"/>
            <a:ext cx="478383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Kontinuirano</a:t>
            </a:r>
            <a:r>
              <a:rPr lang="en-US" sz="1200" b="1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1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prikupljanje</a:t>
            </a:r>
            <a:r>
              <a:rPr lang="en-US" sz="1200" b="1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1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podataka</a:t>
            </a:r>
            <a:r>
              <a:rPr lang="en-US" sz="1200" b="1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Mikro</a:t>
            </a:r>
            <a:r>
              <a:rPr lang="hr-HR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upravljač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mjeri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temperaturu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vlažnost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zraka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unutar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vanjske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kutije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elektronikom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284" name="Google Shape;284;p20"/>
          <p:cNvSpPr txBox="1"/>
          <p:nvPr/>
        </p:nvSpPr>
        <p:spPr>
          <a:xfrm>
            <a:off x="714375" y="3906007"/>
            <a:ext cx="46196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Zaštitna</a:t>
            </a:r>
            <a:r>
              <a:rPr lang="en-US" sz="1200" b="1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1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uloga</a:t>
            </a:r>
            <a:r>
              <a:rPr lang="en-US" sz="1200" b="1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Praćenje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parametara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realnom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vremenu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ključno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je za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pravovremenu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detekciju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kondenzacije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ili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pregrijavanja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hardvera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pic>
        <p:nvPicPr>
          <p:cNvPr id="285" name="Google Shape;285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96050" y="2852737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0"/>
          <p:cNvSpPr txBox="1"/>
          <p:nvPr/>
        </p:nvSpPr>
        <p:spPr>
          <a:xfrm>
            <a:off x="6762750" y="3176587"/>
            <a:ext cx="46196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Trenutno WebSocket izvještavanje: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Svaki događaj (promjena antene, WiFi spajanje, rotacija) generira tekstualni zapis u firmwareu.</a:t>
            </a:r>
            <a:endParaRPr/>
          </a:p>
        </p:txBody>
      </p:sp>
      <p:sp>
        <p:nvSpPr>
          <p:cNvPr id="287" name="Google Shape;287;p20"/>
          <p:cNvSpPr txBox="1"/>
          <p:nvPr/>
        </p:nvSpPr>
        <p:spPr>
          <a:xfrm>
            <a:off x="6762750" y="3976687"/>
            <a:ext cx="46196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Brza dijagnostika: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Pruža operateru punu transparentnost u radu direktno na web dashboardu bez potrebe za fizičkim spajanjem na računalo kabelom.</a:t>
            </a:r>
            <a:endParaRPr/>
          </a:p>
        </p:txBody>
      </p:sp>
      <p:sp>
        <p:nvSpPr>
          <p:cNvPr id="289" name="Google Shape;289;p20"/>
          <p:cNvSpPr txBox="1"/>
          <p:nvPr/>
        </p:nvSpPr>
        <p:spPr>
          <a:xfrm>
            <a:off x="947737" y="742005"/>
            <a:ext cx="1120640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 dirty="0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TELEMETRIJA I ZAŠTITA SUSTAVA</a:t>
            </a:r>
            <a:endParaRPr lang="en-US" dirty="0"/>
          </a:p>
        </p:txBody>
      </p:sp>
      <p:sp>
        <p:nvSpPr>
          <p:cNvPr id="290" name="Google Shape;290;p20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66725" y="316782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66725" y="4019729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96050" y="3195637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96050" y="3995737"/>
            <a:ext cx="14287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62175"/>
            <a:ext cx="355595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162175"/>
            <a:ext cx="355595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162175"/>
            <a:ext cx="3556099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95725"/>
            <a:ext cx="355595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17950" y="3895725"/>
            <a:ext cx="355595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64400" y="3895725"/>
            <a:ext cx="3556099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6105525"/>
            <a:ext cx="110490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795337"/>
            <a:ext cx="3000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1"/>
          <p:cNvSpPr txBox="1"/>
          <p:nvPr/>
        </p:nvSpPr>
        <p:spPr>
          <a:xfrm>
            <a:off x="571500" y="6237732"/>
            <a:ext cx="1723644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 err="1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SmartAntenna</a:t>
            </a:r>
            <a:r>
              <a:rPr lang="en-US" sz="975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Control</a:t>
            </a:r>
            <a:endParaRPr dirty="0"/>
          </a:p>
        </p:txBody>
      </p:sp>
      <p:sp>
        <p:nvSpPr>
          <p:cNvPr id="309" name="Google Shape;309;p21"/>
          <p:cNvSpPr txBox="1"/>
          <p:nvPr/>
        </p:nvSpPr>
        <p:spPr>
          <a:xfrm>
            <a:off x="11058525" y="6229350"/>
            <a:ext cx="5619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Stranica 9</a:t>
            </a:r>
            <a:endParaRPr/>
          </a:p>
        </p:txBody>
      </p:sp>
      <p:pic>
        <p:nvPicPr>
          <p:cNvPr id="310" name="Google Shape;310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197000" y="24003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1"/>
          <p:cNvSpPr txBox="1"/>
          <p:nvPr/>
        </p:nvSpPr>
        <p:spPr>
          <a:xfrm>
            <a:off x="732632" y="2800350"/>
            <a:ext cx="3233685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ESP8266</a:t>
            </a:r>
            <a:endParaRPr dirty="0"/>
          </a:p>
        </p:txBody>
      </p:sp>
      <p:sp>
        <p:nvSpPr>
          <p:cNvPr id="312" name="Google Shape;312;p21"/>
          <p:cNvSpPr txBox="1"/>
          <p:nvPr/>
        </p:nvSpPr>
        <p:spPr>
          <a:xfrm>
            <a:off x="809625" y="3095625"/>
            <a:ext cx="30797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Hardverska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baza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optimizirani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C++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ugrađeni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kod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1100" dirty="0"/>
          </a:p>
        </p:txBody>
      </p:sp>
      <p:pic>
        <p:nvPicPr>
          <p:cNvPr id="313" name="Google Shape;313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962501" y="2400300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1"/>
          <p:cNvSpPr txBox="1"/>
          <p:nvPr/>
        </p:nvSpPr>
        <p:spPr>
          <a:xfrm>
            <a:off x="4479082" y="2800350"/>
            <a:ext cx="323368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LittleFS</a:t>
            </a:r>
            <a:endParaRPr/>
          </a:p>
        </p:txBody>
      </p:sp>
      <p:sp>
        <p:nvSpPr>
          <p:cNvPr id="315" name="Google Shape;315;p21"/>
          <p:cNvSpPr txBox="1"/>
          <p:nvPr/>
        </p:nvSpPr>
        <p:spPr>
          <a:xfrm>
            <a:off x="4556075" y="3095625"/>
            <a:ext cx="30797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Lokalna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pohrana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web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resursa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 flash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memoriji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čipa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1100" dirty="0"/>
          </a:p>
        </p:txBody>
      </p:sp>
      <p:pic>
        <p:nvPicPr>
          <p:cNvPr id="316" name="Google Shape;316;p21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651950" y="2400300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1"/>
          <p:cNvSpPr txBox="1"/>
          <p:nvPr/>
        </p:nvSpPr>
        <p:spPr>
          <a:xfrm>
            <a:off x="8225529" y="2800350"/>
            <a:ext cx="323384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WebSockets</a:t>
            </a:r>
            <a:endParaRPr/>
          </a:p>
        </p:txBody>
      </p:sp>
      <p:sp>
        <p:nvSpPr>
          <p:cNvPr id="318" name="Google Shape;318;p21"/>
          <p:cNvSpPr txBox="1"/>
          <p:nvPr/>
        </p:nvSpPr>
        <p:spPr>
          <a:xfrm>
            <a:off x="8302525" y="3095625"/>
            <a:ext cx="3079849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Protokol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za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dvosmjerni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prijenos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podataka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bez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latencije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1100" dirty="0"/>
          </a:p>
        </p:txBody>
      </p:sp>
      <p:pic>
        <p:nvPicPr>
          <p:cNvPr id="319" name="Google Shape;319;p21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158900" y="4133850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1"/>
          <p:cNvSpPr txBox="1"/>
          <p:nvPr/>
        </p:nvSpPr>
        <p:spPr>
          <a:xfrm>
            <a:off x="732632" y="4533900"/>
            <a:ext cx="323368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ArduinoJson</a:t>
            </a:r>
            <a:endParaRPr/>
          </a:p>
        </p:txBody>
      </p:sp>
      <p:sp>
        <p:nvSpPr>
          <p:cNvPr id="321" name="Google Shape;321;p21"/>
          <p:cNvSpPr txBox="1"/>
          <p:nvPr/>
        </p:nvSpPr>
        <p:spPr>
          <a:xfrm>
            <a:off x="809625" y="4829175"/>
            <a:ext cx="30797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Pakiranje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dekodiranje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statusnih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parametara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čipu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1100" dirty="0"/>
          </a:p>
        </p:txBody>
      </p:sp>
      <p:pic>
        <p:nvPicPr>
          <p:cNvPr id="322" name="Google Shape;322;p21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5981551" y="4133850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1"/>
          <p:cNvSpPr txBox="1"/>
          <p:nvPr/>
        </p:nvSpPr>
        <p:spPr>
          <a:xfrm>
            <a:off x="4479082" y="4533900"/>
            <a:ext cx="323368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HTML5 / CSS3 / JS</a:t>
            </a:r>
            <a:endParaRPr/>
          </a:p>
        </p:txBody>
      </p:sp>
      <p:sp>
        <p:nvSpPr>
          <p:cNvPr id="324" name="Google Shape;324;p21"/>
          <p:cNvSpPr txBox="1"/>
          <p:nvPr/>
        </p:nvSpPr>
        <p:spPr>
          <a:xfrm>
            <a:off x="4556075" y="4829175"/>
            <a:ext cx="30797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Responzivno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sučelje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potpunosti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klijentskoj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strani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1100" dirty="0"/>
          </a:p>
        </p:txBody>
      </p:sp>
      <p:pic>
        <p:nvPicPr>
          <p:cNvPr id="325" name="Google Shape;325;p21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651950" y="4133850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1"/>
          <p:cNvSpPr txBox="1"/>
          <p:nvPr/>
        </p:nvSpPr>
        <p:spPr>
          <a:xfrm>
            <a:off x="8225529" y="4533900"/>
            <a:ext cx="323384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Driver Biblioteke</a:t>
            </a:r>
            <a:endParaRPr/>
          </a:p>
        </p:txBody>
      </p:sp>
      <p:sp>
        <p:nvSpPr>
          <p:cNvPr id="327" name="Google Shape;327;p21"/>
          <p:cNvSpPr txBox="1"/>
          <p:nvPr/>
        </p:nvSpPr>
        <p:spPr>
          <a:xfrm>
            <a:off x="8302525" y="4829175"/>
            <a:ext cx="3079849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Precizna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kontrola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DHT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senzora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hr-HR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koraka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motora</a:t>
            </a:r>
            <a:r>
              <a:rPr lang="en-US" sz="11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1100" dirty="0"/>
          </a:p>
        </p:txBody>
      </p:sp>
      <p:sp>
        <p:nvSpPr>
          <p:cNvPr id="329" name="Google Shape;329;p21"/>
          <p:cNvSpPr txBox="1"/>
          <p:nvPr/>
        </p:nvSpPr>
        <p:spPr>
          <a:xfrm>
            <a:off x="985837" y="742005"/>
            <a:ext cx="1116639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 dirty="0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INTEGRIRANI TEHNOLOŠKI STOG (STACK)</a:t>
            </a:r>
            <a:endParaRPr lang="en-US" dirty="0"/>
          </a:p>
        </p:txBody>
      </p:sp>
      <p:sp>
        <p:nvSpPr>
          <p:cNvPr id="330" name="Google Shape;330;p21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05075"/>
            <a:ext cx="539115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29350" y="2505075"/>
            <a:ext cx="539115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6105525"/>
            <a:ext cx="110490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795337"/>
            <a:ext cx="261937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2"/>
          <p:cNvSpPr txBox="1"/>
          <p:nvPr/>
        </p:nvSpPr>
        <p:spPr>
          <a:xfrm>
            <a:off x="571500" y="6256782"/>
            <a:ext cx="183337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 err="1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SmartAntenna</a:t>
            </a:r>
            <a:r>
              <a:rPr lang="en-US" sz="975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Control</a:t>
            </a:r>
            <a:endParaRPr dirty="0"/>
          </a:p>
        </p:txBody>
      </p:sp>
      <p:sp>
        <p:nvSpPr>
          <p:cNvPr id="341" name="Google Shape;341;p22"/>
          <p:cNvSpPr txBox="1"/>
          <p:nvPr/>
        </p:nvSpPr>
        <p:spPr>
          <a:xfrm>
            <a:off x="10991850" y="6229350"/>
            <a:ext cx="6286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Stranica 10</a:t>
            </a:r>
            <a:endParaRPr/>
          </a:p>
        </p:txBody>
      </p:sp>
      <p:sp>
        <p:nvSpPr>
          <p:cNvPr id="342" name="Google Shape;342;p22"/>
          <p:cNvSpPr txBox="1"/>
          <p:nvPr/>
        </p:nvSpPr>
        <p:spPr>
          <a:xfrm>
            <a:off x="809625" y="2771775"/>
            <a:ext cx="516064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Ključne Prednosti Sustava</a:t>
            </a:r>
            <a:endParaRPr/>
          </a:p>
        </p:txBody>
      </p:sp>
      <p:sp>
        <p:nvSpPr>
          <p:cNvPr id="343" name="Google Shape;343;p22"/>
          <p:cNvSpPr txBox="1"/>
          <p:nvPr/>
        </p:nvSpPr>
        <p:spPr>
          <a:xfrm>
            <a:off x="6467475" y="2771775"/>
            <a:ext cx="516064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Outfit"/>
                <a:ea typeface="Outfit"/>
                <a:cs typeface="Outfit"/>
                <a:sym typeface="Outfit"/>
              </a:rPr>
              <a:t>Mogućnosti Budućeg Razvoja</a:t>
            </a:r>
            <a:endParaRPr/>
          </a:p>
        </p:txBody>
      </p:sp>
      <p:pic>
        <p:nvPicPr>
          <p:cNvPr id="344" name="Google Shape;344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8563" y="279082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2"/>
          <p:cNvSpPr txBox="1"/>
          <p:nvPr/>
        </p:nvSpPr>
        <p:spPr>
          <a:xfrm>
            <a:off x="1076325" y="3143250"/>
            <a:ext cx="4648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100% lokalni rad: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Potpuna neovisnost o vanjskom internetu i cloud uslugama.</a:t>
            </a:r>
            <a:endParaRPr/>
          </a:p>
        </p:txBody>
      </p:sp>
      <p:sp>
        <p:nvSpPr>
          <p:cNvPr id="346" name="Google Shape;346;p22"/>
          <p:cNvSpPr txBox="1"/>
          <p:nvPr/>
        </p:nvSpPr>
        <p:spPr>
          <a:xfrm>
            <a:off x="1076325" y="3714750"/>
            <a:ext cx="4648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Niski troškovi: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Izrazito niska cijena izrade uz standardno dostupne komponente.</a:t>
            </a:r>
            <a:endParaRPr/>
          </a:p>
        </p:txBody>
      </p:sp>
      <p:sp>
        <p:nvSpPr>
          <p:cNvPr id="347" name="Google Shape;347;p22"/>
          <p:cNvSpPr txBox="1"/>
          <p:nvPr/>
        </p:nvSpPr>
        <p:spPr>
          <a:xfrm>
            <a:off x="1076325" y="4286250"/>
            <a:ext cx="4648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Modularnost: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Otvoren kod prikladan za brze modifikacije i specifične antene.</a:t>
            </a:r>
            <a:endParaRPr/>
          </a:p>
        </p:txBody>
      </p:sp>
      <p:pic>
        <p:nvPicPr>
          <p:cNvPr id="348" name="Google Shape;348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40983" y="280893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2"/>
          <p:cNvSpPr txBox="1"/>
          <p:nvPr/>
        </p:nvSpPr>
        <p:spPr>
          <a:xfrm>
            <a:off x="6734175" y="3143250"/>
            <a:ext cx="4648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Home Assistant: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Integracija MQTT protokola za pametne kuće i automatizaciju.</a:t>
            </a:r>
            <a:endParaRPr/>
          </a:p>
        </p:txBody>
      </p:sp>
      <p:sp>
        <p:nvSpPr>
          <p:cNvPr id="350" name="Google Shape;350;p22"/>
          <p:cNvSpPr txBox="1"/>
          <p:nvPr/>
        </p:nvSpPr>
        <p:spPr>
          <a:xfrm>
            <a:off x="6734175" y="3714750"/>
            <a:ext cx="46482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Mobilna</a:t>
            </a:r>
            <a:r>
              <a:rPr lang="en-US" sz="1200" b="1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1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aplikacija</a:t>
            </a:r>
            <a:r>
              <a:rPr lang="en-US" sz="1200" b="1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Razvoj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</a:t>
            </a:r>
            <a:r>
              <a:rPr lang="hr-HR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mjenske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aplikacije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ugradnja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GPS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modula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za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lokaciju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351" name="Google Shape;351;p22"/>
          <p:cNvSpPr txBox="1"/>
          <p:nvPr/>
        </p:nvSpPr>
        <p:spPr>
          <a:xfrm>
            <a:off x="6734175" y="4286250"/>
            <a:ext cx="4648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Auto-tracking: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Povezivanje sa softverom za automatsko praćenje prolaza satelita (CAT).</a:t>
            </a:r>
            <a:endParaRPr/>
          </a:p>
        </p:txBody>
      </p:sp>
      <p:sp>
        <p:nvSpPr>
          <p:cNvPr id="353" name="Google Shape;353;p22"/>
          <p:cNvSpPr txBox="1"/>
          <p:nvPr/>
        </p:nvSpPr>
        <p:spPr>
          <a:xfrm>
            <a:off x="947737" y="742005"/>
            <a:ext cx="1120640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 dirty="0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PREDNOSTI I POTENCIJALNI RAZVOJ</a:t>
            </a:r>
            <a:endParaRPr lang="en-US" dirty="0"/>
          </a:p>
        </p:txBody>
      </p:sp>
      <p:sp>
        <p:nvSpPr>
          <p:cNvPr id="354" name="Google Shape;354;p22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09625" y="316230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09625" y="373380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09625" y="430530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2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67475" y="3162300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2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67475" y="3733800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2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67475" y="4305300"/>
            <a:ext cx="14287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70454"/>
            <a:ext cx="5930205" cy="1254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0834" y="2882470"/>
            <a:ext cx="5930205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6927" y="4124574"/>
            <a:ext cx="5930205" cy="1205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6076950"/>
            <a:ext cx="11049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795337"/>
            <a:ext cx="233362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3"/>
          <p:cNvSpPr txBox="1"/>
          <p:nvPr/>
        </p:nvSpPr>
        <p:spPr>
          <a:xfrm>
            <a:off x="571500" y="6215062"/>
            <a:ext cx="9902536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lvl="0"/>
            <a:r>
              <a:rPr lang="en-US" sz="1100" b="1" i="0" u="none" strike="noStrike" cap="none" dirty="0">
                <a:solidFill>
                  <a:srgbClr val="0EA5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00" b="1" dirty="0">
                <a:solidFill>
                  <a:srgbClr val="0EA5E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https://github.com/MaNir007/ESP8266-SmartAntenna-Control-sustav-za-be-i-no-upravljanje-antenskim-sustavima-radioamatera</a:t>
            </a:r>
            <a:endParaRPr sz="1100" dirty="0"/>
          </a:p>
        </p:txBody>
      </p:sp>
      <p:pic>
        <p:nvPicPr>
          <p:cNvPr id="374" name="Google Shape;374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6234112"/>
            <a:ext cx="145048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3"/>
          <p:cNvSpPr txBox="1"/>
          <p:nvPr/>
        </p:nvSpPr>
        <p:spPr>
          <a:xfrm>
            <a:off x="809625" y="1708580"/>
            <a:ext cx="572665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0284C7"/>
                </a:solidFill>
                <a:latin typeface="Outfit"/>
                <a:ea typeface="Outfit"/>
                <a:cs typeface="Outfit"/>
                <a:sym typeface="Outfit"/>
              </a:rPr>
              <a:t>Uspješan</a:t>
            </a:r>
            <a:r>
              <a:rPr lang="en-US" sz="1600" b="1" i="0" u="none" strike="noStrike" cap="none" dirty="0">
                <a:solidFill>
                  <a:srgbClr val="0284C7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600" b="1" i="0" u="none" strike="noStrike" cap="none" dirty="0" err="1">
                <a:solidFill>
                  <a:srgbClr val="0284C7"/>
                </a:solidFill>
                <a:latin typeface="Outfit"/>
                <a:ea typeface="Outfit"/>
                <a:cs typeface="Outfit"/>
                <a:sym typeface="Outfit"/>
              </a:rPr>
              <a:t>spoj</a:t>
            </a:r>
            <a:r>
              <a:rPr lang="en-US" sz="1600" b="1" i="0" u="none" strike="noStrike" cap="none" dirty="0">
                <a:solidFill>
                  <a:srgbClr val="0284C7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600" b="1" i="0" u="none" strike="noStrike" cap="none" dirty="0" err="1">
                <a:solidFill>
                  <a:srgbClr val="0284C7"/>
                </a:solidFill>
                <a:latin typeface="Outfit"/>
                <a:ea typeface="Outfit"/>
                <a:cs typeface="Outfit"/>
                <a:sym typeface="Outfit"/>
              </a:rPr>
              <a:t>tehnologija</a:t>
            </a:r>
            <a:endParaRPr sz="1600" dirty="0"/>
          </a:p>
        </p:txBody>
      </p:sp>
      <p:sp>
        <p:nvSpPr>
          <p:cNvPr id="379" name="Google Shape;379;p23"/>
          <p:cNvSpPr txBox="1"/>
          <p:nvPr/>
        </p:nvSpPr>
        <p:spPr>
          <a:xfrm>
            <a:off x="804862" y="2027727"/>
            <a:ext cx="545395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Projekt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demonstrira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kako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moderni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web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standardi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mogu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učinkovito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integrirati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unutar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resursno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ograničenih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mikrok</a:t>
            </a:r>
            <a:r>
              <a:rPr lang="hr-HR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upravljač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a.</a:t>
            </a:r>
            <a:endParaRPr sz="1200" dirty="0"/>
          </a:p>
        </p:txBody>
      </p:sp>
      <p:sp>
        <p:nvSpPr>
          <p:cNvPr id="380" name="Google Shape;380;p23"/>
          <p:cNvSpPr txBox="1"/>
          <p:nvPr/>
        </p:nvSpPr>
        <p:spPr>
          <a:xfrm>
            <a:off x="809625" y="3101676"/>
            <a:ext cx="572665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Praktična</a:t>
            </a:r>
            <a:r>
              <a:rPr lang="en-US" sz="1600" b="1" i="0" u="none" strike="noStrike" cap="none" dirty="0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US" sz="1600" b="1" i="0" u="none" strike="noStrike" cap="none" dirty="0" err="1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vrijednost</a:t>
            </a:r>
            <a:endParaRPr sz="1600" dirty="0"/>
          </a:p>
        </p:txBody>
      </p:sp>
      <p:sp>
        <p:nvSpPr>
          <p:cNvPr id="381" name="Google Shape;381;p23"/>
          <p:cNvSpPr txBox="1"/>
          <p:nvPr/>
        </p:nvSpPr>
        <p:spPr>
          <a:xfrm>
            <a:off x="804861" y="3385997"/>
            <a:ext cx="545395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Omogućeno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je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sigurno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precizno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potpuno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automatizirano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upravljanje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antenskim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sustavima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iz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udobnosti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hr-HR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vlastitog doma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1200" dirty="0"/>
          </a:p>
        </p:txBody>
      </p:sp>
      <p:sp>
        <p:nvSpPr>
          <p:cNvPr id="382" name="Google Shape;382;p23"/>
          <p:cNvSpPr txBox="1"/>
          <p:nvPr/>
        </p:nvSpPr>
        <p:spPr>
          <a:xfrm>
            <a:off x="775052" y="4253833"/>
            <a:ext cx="572665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F59E0B"/>
                </a:solidFill>
                <a:latin typeface="Outfit"/>
                <a:ea typeface="Outfit"/>
                <a:cs typeface="Outfit"/>
                <a:sym typeface="Outfit"/>
              </a:rPr>
              <a:t>Otvorenost</a:t>
            </a:r>
            <a:r>
              <a:rPr lang="en-US" sz="1600" b="1" i="0" u="none" strike="noStrike" cap="none" dirty="0">
                <a:solidFill>
                  <a:srgbClr val="F59E0B"/>
                </a:solidFill>
                <a:latin typeface="Outfit"/>
                <a:ea typeface="Outfit"/>
                <a:cs typeface="Outfit"/>
                <a:sym typeface="Outfit"/>
              </a:rPr>
              <a:t> za </a:t>
            </a:r>
            <a:r>
              <a:rPr lang="en-US" sz="1600" b="1" i="0" u="none" strike="noStrike" cap="none" dirty="0" err="1">
                <a:solidFill>
                  <a:srgbClr val="F59E0B"/>
                </a:solidFill>
                <a:latin typeface="Outfit"/>
                <a:ea typeface="Outfit"/>
                <a:cs typeface="Outfit"/>
                <a:sym typeface="Outfit"/>
              </a:rPr>
              <a:t>zajednicu</a:t>
            </a:r>
            <a:endParaRPr sz="1600" dirty="0"/>
          </a:p>
        </p:txBody>
      </p:sp>
      <p:sp>
        <p:nvSpPr>
          <p:cNvPr id="383" name="Google Shape;383;p23"/>
          <p:cNvSpPr txBox="1"/>
          <p:nvPr/>
        </p:nvSpPr>
        <p:spPr>
          <a:xfrm>
            <a:off x="775052" y="4614656"/>
            <a:ext cx="545395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Čista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arhitektura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koda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korištenje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LittleFS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pružaju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izvrsnu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stabilnu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podlogu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za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daljnji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razvoj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sz="1200" dirty="0"/>
          </a:p>
        </p:txBody>
      </p:sp>
      <p:sp>
        <p:nvSpPr>
          <p:cNvPr id="385" name="Google Shape;385;p23"/>
          <p:cNvSpPr txBox="1"/>
          <p:nvPr/>
        </p:nvSpPr>
        <p:spPr>
          <a:xfrm>
            <a:off x="919162" y="723900"/>
            <a:ext cx="11236404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Zaključak</a:t>
            </a:r>
            <a:endParaRPr/>
          </a:p>
        </p:txBody>
      </p:sp>
      <p:sp>
        <p:nvSpPr>
          <p:cNvPr id="386" name="Google Shape;386;p23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968DF4-F705-AED2-6DA5-7B68D380E7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0920" y="1470455"/>
            <a:ext cx="3586531" cy="44219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961</Words>
  <Application>Microsoft Office PowerPoint</Application>
  <PresentationFormat>Widescreen</PresentationFormat>
  <Paragraphs>109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Plus Jakarta Sans</vt:lpstr>
      <vt:lpstr>Calibri</vt:lpstr>
      <vt:lpstr>Outfit</vt:lpstr>
      <vt:lpstr>Plus Jakarta Sans Medium</vt:lpstr>
      <vt:lpstr>Outfit SemiBold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Marin Šupljika</dc:creator>
  <cp:lastModifiedBy>Marin Šupljika</cp:lastModifiedBy>
  <cp:revision>45</cp:revision>
  <dcterms:modified xsi:type="dcterms:W3CDTF">2026-05-29T19:34:47Z</dcterms:modified>
</cp:coreProperties>
</file>